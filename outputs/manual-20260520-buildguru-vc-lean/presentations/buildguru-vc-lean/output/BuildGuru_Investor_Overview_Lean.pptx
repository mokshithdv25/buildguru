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3972f9c74044eb" /><Relationship Type="http://schemas.openxmlformats.org/officeDocument/2006/relationships/extended-properties" Target="/docProps/app.xml" Id="R8f847719f05f42df" /><Relationship Type="http://schemas.openxmlformats.org/officeDocument/2006/relationships/officeDocument" Target="/ppt/presentation.xml" Id="Re8653d68133c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63dd13bc4c4471"/>
  </p:sldMasterIdLst>
  <p:notesMasterIdLst>
    <p:notesMasterId xmlns:r="http://schemas.openxmlformats.org/officeDocument/2006/relationships" r:id="R0866322db02948d7"/>
  </p:notesMasterIdLst>
  <p:sldIdLst>
    <p:sldId xmlns:r="http://schemas.openxmlformats.org/officeDocument/2006/relationships" id="256" r:id="R5537257141154b82"/>
    <p:sldId xmlns:r="http://schemas.openxmlformats.org/officeDocument/2006/relationships" id="257" r:id="Rb173cef2907849b2"/>
    <p:sldId xmlns:r="http://schemas.openxmlformats.org/officeDocument/2006/relationships" id="258" r:id="R6ec60b374d4347fd"/>
    <p:sldId xmlns:r="http://schemas.openxmlformats.org/officeDocument/2006/relationships" id="259" r:id="Rd525454a7b9d455a"/>
    <p:sldId xmlns:r="http://schemas.openxmlformats.org/officeDocument/2006/relationships" id="260" r:id="R46c59d7153384cb2"/>
    <p:sldId xmlns:r="http://schemas.openxmlformats.org/officeDocument/2006/relationships" id="261" r:id="R42151a6f96f64668"/>
    <p:sldId xmlns:r="http://schemas.openxmlformats.org/officeDocument/2006/relationships" id="262" r:id="R71799a2575ec483f"/>
    <p:sldId xmlns:r="http://schemas.openxmlformats.org/officeDocument/2006/relationships" id="263" r:id="Rd8057c595166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762d0e685e4d84" /><Relationship Type="http://schemas.openxmlformats.org/officeDocument/2006/relationships/slideMaster" Target="/ppt/slideMasters/slideMaster1.xml" Id="R7b63dd13bc4c4471" /><Relationship Type="http://schemas.openxmlformats.org/officeDocument/2006/relationships/notesMaster" Target="/ppt/notesMasters/notesMaster1.xml" Id="R0866322db02948d7" /><Relationship Type="http://schemas.openxmlformats.org/officeDocument/2006/relationships/presProps" Target="/ppt/presProps.xml" Id="Re2cff65df07d4ce5" /><Relationship Type="http://schemas.openxmlformats.org/officeDocument/2006/relationships/viewProps" Target="/ppt/viewProps.xml" Id="R564e8e5e3d5d401e" /><Relationship Type="http://schemas.openxmlformats.org/officeDocument/2006/relationships/tableStyles" Target="/ppt/tableStyles.xml" Id="R5367d9969c6d4e6a" /><Relationship Type="http://schemas.openxmlformats.org/officeDocument/2006/relationships/slide" Target="/ppt/slides/slide1.xml" Id="R5537257141154b82" /><Relationship Type="http://schemas.openxmlformats.org/officeDocument/2006/relationships/slide" Target="/ppt/slides/slide2.xml" Id="Rb173cef2907849b2" /><Relationship Type="http://schemas.openxmlformats.org/officeDocument/2006/relationships/slide" Target="/ppt/slides/slide3.xml" Id="R6ec60b374d4347fd" /><Relationship Type="http://schemas.openxmlformats.org/officeDocument/2006/relationships/slide" Target="/ppt/slides/slide4.xml" Id="Rd525454a7b9d455a" /><Relationship Type="http://schemas.openxmlformats.org/officeDocument/2006/relationships/slide" Target="/ppt/slides/slide5.xml" Id="R46c59d7153384cb2" /><Relationship Type="http://schemas.openxmlformats.org/officeDocument/2006/relationships/slide" Target="/ppt/slides/slide6.xml" Id="R42151a6f96f64668" /><Relationship Type="http://schemas.openxmlformats.org/officeDocument/2006/relationships/slide" Target="/ppt/slides/slide7.xml" Id="R71799a2575ec483f" /><Relationship Type="http://schemas.openxmlformats.org/officeDocument/2006/relationships/slide" Target="/ppt/slides/slide8.xml" Id="Rd8057c595166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9dc3fb0de4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fab2447b76437f" /><Relationship Type="http://schemas.openxmlformats.org/officeDocument/2006/relationships/notesMaster" Target="/ppt/notesMasters/notesMaster1.xml" Id="R9031d92b7eb744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346e68de94f3f" /><Relationship Type="http://schemas.openxmlformats.org/officeDocument/2006/relationships/notesMaster" Target="/ppt/notesMasters/notesMaster1.xml" Id="R3480a4a7dbd145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8ac23f96654f2e" /><Relationship Type="http://schemas.openxmlformats.org/officeDocument/2006/relationships/notesMaster" Target="/ppt/notesMasters/notesMaster1.xml" Id="R55bdd36951ee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0e5c7f89c4963" /><Relationship Type="http://schemas.openxmlformats.org/officeDocument/2006/relationships/notesMaster" Target="/ppt/notesMasters/notesMaster1.xml" Id="R423810366ebd49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411837dd145dd" /><Relationship Type="http://schemas.openxmlformats.org/officeDocument/2006/relationships/notesMaster" Target="/ppt/notesMasters/notesMaster1.xml" Id="Rbe0588f66f864e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e835799ef34272" /><Relationship Type="http://schemas.openxmlformats.org/officeDocument/2006/relationships/notesMaster" Target="/ppt/notesMasters/notesMaster1.xml" Id="Re8f664138b20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ff02d3646345e9" /><Relationship Type="http://schemas.openxmlformats.org/officeDocument/2006/relationships/notesMaster" Target="/ppt/notesMasters/notesMaster1.xml" Id="R31f2b449074b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24d98762e476c" /><Relationship Type="http://schemas.openxmlformats.org/officeDocument/2006/relationships/notesMaster" Target="/ppt/notesMasters/notesMaster1.xml" Id="Rf55199e3076443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21a654a134e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d093b4b4244eb" /><Relationship Type="http://schemas.openxmlformats.org/officeDocument/2006/relationships/slideLayout" Target="/ppt/slideLayouts/slideLayout1.xml" Id="R868c7cfb18fe4a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8c7cfb18fe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89a1e0e764e43" /><Relationship Type="http://schemas.openxmlformats.org/officeDocument/2006/relationships/image" Target="/ppt/media/image.png" Id="R58d7da7d47794185" /><Relationship Type="http://schemas.openxmlformats.org/officeDocument/2006/relationships/notesSlide" Target="/ppt/notesSlides/notesSlide1.xml" Id="R3d3e3ade6435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5022a10704d79" /><Relationship Type="http://schemas.openxmlformats.org/officeDocument/2006/relationships/notesSlide" Target="/ppt/notesSlides/notesSlide2.xml" Id="Rcc40ce29378649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f915a6b6747dc" /><Relationship Type="http://schemas.openxmlformats.org/officeDocument/2006/relationships/notesSlide" Target="/ppt/notesSlides/notesSlide3.xml" Id="R0269ced7a36d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1bf20c3634e88" /><Relationship Type="http://schemas.openxmlformats.org/officeDocument/2006/relationships/notesSlide" Target="/ppt/notesSlides/notesSlide4.xml" Id="R6b5506770b254c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cfd7475ed4ef7" /><Relationship Type="http://schemas.openxmlformats.org/officeDocument/2006/relationships/notesSlide" Target="/ppt/notesSlides/notesSlide5.xml" Id="R32d873284a5c49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be99f194f41e5" /><Relationship Type="http://schemas.openxmlformats.org/officeDocument/2006/relationships/notesSlide" Target="/ppt/notesSlides/notesSlide6.xml" Id="Rb922a23c149241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86de358304e0c" /><Relationship Type="http://schemas.openxmlformats.org/officeDocument/2006/relationships/notesSlide" Target="/ppt/notesSlides/notesSlide7.xml" Id="Ra7b1ab1624f7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550956b014d47" /><Relationship Type="http://schemas.openxmlformats.org/officeDocument/2006/relationships/notesSlide" Target="/ppt/notesSlides/notesSlide8.xml" Id="R26ca1579cbe949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8B684994-A80D-47F2-9B25-2AC2BDBF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F767787B-A4E8-4186-B3AB-77A5544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1C9D1745-ECE2-4EEC-ADFD-4C10A96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5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B014439-13BE-4876-9A6F-611DBD9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6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06ABD541-8CBF-4F5E-AE0E-85001FA5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INVESTOR OVERVIEW</a:t>
            </a:r>
          </a:p>
        </p:txBody>
      </p:sp>
      <p:pic>
        <p:nvPicPr>
          <p:cNvPr id="3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7da7d4779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861060"/>
            <a:ext cx="533400" cy="373380"/>
          </a:xfrm>
          <a:prstGeom xmlns:a="http://schemas.openxmlformats.org/drawingml/2006/main" prst="rect">
            <a:avLst/>
          </a:prstGeom>
        </p:spPr>
      </p:pic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20FB88C7-FF23-4DD4-9AC3-9F4DA918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14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BuildGuru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288FC0BA-78F0-46E1-BCD4-C4987618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85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The operating layer before Indian homes are built or renovated.</a:t>
            </a: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58D54538-C991-48D3-86DA-D52AADC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C9B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6C9BD"/>
                </a:solidFill>
                <a:latin typeface="Avenir Next"/>
                <a:ea typeface="Avenir Next"/>
                <a:cs typeface="Avenir Next"/>
              </a:rPr>
              <a:t>Opportunity sizing, problem, UVP, competition, founder, roadmap, and use of funds.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8D08984A-D218-43F4-8926-8505041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323E1C53-E52A-43A2-A0B0-ADBE0240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D6194685-CF06-4AF5-841F-84BA3E0F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906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D9D63677-9175-4863-B0CB-1C4AA513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669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India construction market in 2026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9EF80DFE-56F9-499F-84F3-61F8AFF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Mordor Intelligence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4B598962-6416-440E-88C7-2061A57C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50155D51-F9F8-4676-82FA-ECB08EB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FD9A30C2-FE8C-4468-B2AF-1B885723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CFEE3E1E-E0AF-4397-80AE-5A18247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online home services penetration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66B54796-EF4E-4C9D-A9D0-03FB02EA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623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Redseer / IBEF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FD21CEA5-EBF4-48C4-9B93-E04E71D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19"/>
          </a:solidFill>
          <a:ln xmlns:a="http://schemas.openxmlformats.org/drawingml/2006/main" w="9525">
            <a:solidFill>
              <a:srgbClr val="4A4038"/>
            </a:solidFill>
            <a:prstDash val="solid"/>
          </a:ln>
        </p:spPr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28FB4108-2EF5-4947-AD12-0A7E1A82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C6518C0E-0657-4E95-996B-3F81423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529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$1.5B+</a:t>
            </a:r>
          </a:p>
        </p:txBody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F752236A-EBD7-45AE-B8B3-BF521FE4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291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defRPr>
            </a:pPr>
            <a:r>
              <a:rPr sz="940" b="1">
                <a:solidFill>
                  <a:srgbClr val="E5D9CE"/>
                </a:solidFill>
                <a:latin typeface="Avenir Next"/>
                <a:ea typeface="Avenir Next"/>
                <a:cs typeface="Avenir Next"/>
              </a:rPr>
              <a:t>credible coordination layer wedge</a:t>
            </a:r>
          </a:p>
        </p:txBody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126E418A-9084-4A41-B0CF-B194598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AFA49A"/>
                </a:solidFill>
                <a:latin typeface="Avenir Next"/>
                <a:ea typeface="Avenir Next"/>
                <a:cs typeface="Avenir Next"/>
              </a:rPr>
              <a:t>Internal model</a:t>
            </a:r>
          </a:p>
        </p:txBody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768DC103-7ACB-460F-AB29-30A8AB7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Sources: Mordor Intelligence 2026; Redseer via IBEF 2025; internal Design Compass model.</a:t>
            </a:r>
          </a:p>
        </p:txBody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64B150DD-ECB5-4B67-B3FB-F4F0BEAC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5655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C4FC4404-B592-4421-A03E-5D4FC80F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5C7DE41-B141-4A77-966C-C4830AE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650A0C88-5602-420B-9167-C855887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EE32AF1F-55DB-44D8-8478-BAA81EB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FF020D3-0875-4277-9617-C0D84394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OPPORTUNITY SIZING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C2E63C28-5D63-4867-86A4-934DCA4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A large construction market is still early in digital coordination.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619D57D1-3B69-4DB5-8C73-3E3D26E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India construction market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140A71F9-F9C0-4FBA-AF82-F43310CD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A"/>
          </a:solidFill>
          <a:ln xmlns:a="http://schemas.openxmlformats.org/drawingml/2006/main" w="0">
            <a:solidFill>
              <a:srgbClr val="E4D7CA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BD2A3034-7E34-44A3-BDC7-BDC9418E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4149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421607C9-89D1-450F-8B69-0B165E3C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043" y="24098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$0.79T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90A51386-83A4-42FF-95BA-6F6C5F3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Projected market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EEEA474B-4787-40BC-A629-4AFB281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7CA"/>
          </a:solidFill>
          <a:ln xmlns:a="http://schemas.openxmlformats.org/drawingml/2006/main" w="0">
            <a:solidFill>
              <a:srgbClr val="E4D7CA"/>
            </a:solidFill>
            <a:prstDash val="solid"/>
          </a:ln>
        </p:spPr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493ABCBE-6DB0-4E84-9524-3D334F9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602B51E7-E08B-48EE-92E6-F8ED39D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$1.10T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49069C1B-4898-4007-999B-F1266E1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6.87%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CAGR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233460A5-455B-4726-A5D9-1593D4A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57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2026-2031 forecast</a:t>
            </a: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80D53EAE-34D3-4A02-B69E-D377FA8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9014AFA0-84F4-490C-86BC-815AFE8E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C779363A-EF19-4C5C-A445-42AA24D6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1724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44.68%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E295207E-4181-4B7C-8AC5-EBFD812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168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residential share of India construction</a:t>
            </a:r>
          </a:p>
        </p:txBody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40D0B8FC-F444-4410-91AF-9B8F452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2025</a:t>
            </a:r>
          </a:p>
        </p:txBody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2833F9DC-67A4-4C7A-83C2-BF4890AD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0F410590-7767-4B7B-9B35-7660285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4728A38C-DF43-47A9-B575-61F7996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81200"/>
            <a:ext cx="1724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7.96%</a:t>
            </a:r>
          </a:p>
        </p:txBody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7F57F879-4B49-4FF0-9BAF-F1AC4D9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57450"/>
            <a:ext cx="168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renovation CAGR to 2031</a:t>
            </a:r>
          </a:p>
        </p:txBody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71C106D5-601B-42EE-B85A-9E3C41A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00350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fastest-growing construction type</a:t>
            </a:r>
          </a:p>
        </p:txBody>
      </p:sp>
      <p:sp>
        <p:nvSpPr>
          <p:cNvPr id="28" name="Rectangles 27">
            <a:extLst xmlns:a="http://schemas.openxmlformats.org/drawingml/2006/main">
              <a:ext uri="{FF2B5EF4-FFF2-40B4-BE49-F238E27FC236}">
                <a16:creationId xmlns:a16="http://schemas.microsoft.com/office/drawing/2014/main" id="{4BA232B5-6DC7-4FE4-99C9-1577ECD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9" name="Rectangles 28">
            <a:extLst xmlns:a="http://schemas.openxmlformats.org/drawingml/2006/main">
              <a:ext uri="{FF2B5EF4-FFF2-40B4-BE49-F238E27FC236}">
                <a16:creationId xmlns:a16="http://schemas.microsoft.com/office/drawing/2014/main" id="{E43BF982-694F-4C3A-A41D-2771C42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30" name="Rectangles 29">
            <a:extLst xmlns:a="http://schemas.openxmlformats.org/drawingml/2006/main">
              <a:ext uri="{FF2B5EF4-FFF2-40B4-BE49-F238E27FC236}">
                <a16:creationId xmlns:a16="http://schemas.microsoft.com/office/drawing/2014/main" id="{1BD735C8-3E9E-476E-B921-3AB4C9D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1724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&lt;1%</a:t>
            </a:r>
          </a:p>
        </p:txBody>
      </p:sp>
      <p:sp>
        <p:nvSpPr>
          <p:cNvPr id="31" name="Rectangles 30">
            <a:extLst xmlns:a="http://schemas.openxmlformats.org/drawingml/2006/main">
              <a:ext uri="{FF2B5EF4-FFF2-40B4-BE49-F238E27FC236}">
                <a16:creationId xmlns:a16="http://schemas.microsoft.com/office/drawing/2014/main" id="{130134C9-7A5A-431E-8353-259E373F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168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online home services NTV penetration</a:t>
            </a:r>
          </a:p>
        </p:txBody>
      </p:sp>
      <p:sp>
        <p:nvSpPr>
          <p:cNvPr id="32" name="Rectangles 31">
            <a:extLst xmlns:a="http://schemas.openxmlformats.org/drawingml/2006/main">
              <a:ext uri="{FF2B5EF4-FFF2-40B4-BE49-F238E27FC236}">
                <a16:creationId xmlns:a16="http://schemas.microsoft.com/office/drawing/2014/main" id="{FA83ADF8-EE6E-4936-BF62-9BB52D68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67225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FY25</a:t>
            </a:r>
          </a:p>
        </p:txBody>
      </p:sp>
      <p:sp>
        <p:nvSpPr>
          <p:cNvPr id="33" name="Rectangles 32">
            <a:extLst xmlns:a="http://schemas.openxmlformats.org/drawingml/2006/main">
              <a:ext uri="{FF2B5EF4-FFF2-40B4-BE49-F238E27FC236}">
                <a16:creationId xmlns:a16="http://schemas.microsoft.com/office/drawing/2014/main" id="{A74739CE-2E2C-411E-B4CB-05EEFB9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2143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34" name="Rectangles 33">
            <a:extLst xmlns:a="http://schemas.openxmlformats.org/drawingml/2006/main">
              <a:ext uri="{FF2B5EF4-FFF2-40B4-BE49-F238E27FC236}">
                <a16:creationId xmlns:a16="http://schemas.microsoft.com/office/drawing/2014/main" id="{F621709F-461A-43FD-B58D-DB81B27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76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35" name="Rectangles 34">
            <a:extLst xmlns:a="http://schemas.openxmlformats.org/drawingml/2006/main">
              <a:ext uri="{FF2B5EF4-FFF2-40B4-BE49-F238E27FC236}">
                <a16:creationId xmlns:a16="http://schemas.microsoft.com/office/drawing/2014/main" id="{903A4DCC-D597-42B3-816D-92D73C84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1724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18-22%</a:t>
            </a:r>
          </a:p>
        </p:txBody>
      </p:sp>
      <p:sp>
        <p:nvSpPr>
          <p:cNvPr id="36" name="Rectangles 35">
            <a:extLst xmlns:a="http://schemas.openxmlformats.org/drawingml/2006/main">
              <a:ext uri="{FF2B5EF4-FFF2-40B4-BE49-F238E27FC236}">
                <a16:creationId xmlns:a16="http://schemas.microsoft.com/office/drawing/2014/main" id="{45CE30B0-9398-4A3F-8BA1-8CBBAF85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124325"/>
            <a:ext cx="168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online home services CAGR to FY30</a:t>
            </a:r>
          </a:p>
        </p:txBody>
      </p:sp>
      <p:sp>
        <p:nvSpPr>
          <p:cNvPr id="37" name="Rectangles 36">
            <a:extLst xmlns:a="http://schemas.openxmlformats.org/drawingml/2006/main">
              <a:ext uri="{FF2B5EF4-FFF2-40B4-BE49-F238E27FC236}">
                <a16:creationId xmlns:a16="http://schemas.microsoft.com/office/drawing/2014/main" id="{018B2C45-6146-402A-817F-F0FB03B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67225"/>
            <a:ext cx="1685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Redseer / IBEF</a:t>
            </a:r>
          </a:p>
        </p:txBody>
      </p:sp>
      <p:sp>
        <p:nvSpPr>
          <p:cNvPr id="38" name="Rectangles 37">
            <a:extLst xmlns:a="http://schemas.openxmlformats.org/drawingml/2006/main">
              <a:ext uri="{FF2B5EF4-FFF2-40B4-BE49-F238E27FC236}">
                <a16:creationId xmlns:a16="http://schemas.microsoft.com/office/drawing/2014/main" id="{DD58B23C-A11C-488D-AA8F-515B82C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135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 targets the decision and coordination layer, not the entire build cost.</a:t>
            </a:r>
          </a:p>
        </p:txBody>
      </p:sp>
      <p:sp>
        <p:nvSpPr>
          <p:cNvPr id="39" name="Rectangles 38">
            <a:extLst xmlns:a="http://schemas.openxmlformats.org/drawingml/2006/main">
              <a:ext uri="{FF2B5EF4-FFF2-40B4-BE49-F238E27FC236}">
                <a16:creationId xmlns:a16="http://schemas.microsoft.com/office/drawing/2014/main" id="{E39262AB-61D8-41EA-BAC8-129C4BF0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Mordor Intelligence India Construction Market, Jan 2026; Redseer Strategy Consultants via IBEF, FY25.</a:t>
            </a:r>
          </a:p>
        </p:txBody>
      </p:sp>
      <p:sp>
        <p:nvSpPr>
          <p:cNvPr id="40" name="Rectangles 39">
            <a:extLst xmlns:a="http://schemas.openxmlformats.org/drawingml/2006/main">
              <a:ext uri="{FF2B5EF4-FFF2-40B4-BE49-F238E27FC236}">
                <a16:creationId xmlns:a16="http://schemas.microsoft.com/office/drawing/2014/main" id="{B81398E2-0CB6-43E6-A8F4-23BA9E68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67865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EB76802D-900D-48CE-B628-E4D33619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D0A293B-E520-4318-A4D0-8042069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34D868D7-98C1-4726-8FB4-344496B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63A0C0D-04D7-4EBB-BBCB-6655766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8C0AE0F-2232-406B-8143-2924F5FB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B58850CF-6C34-43D5-851E-0C35E7A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The default path is still WhatsApp, vague quotes, and cash advances.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C23F22D2-0AB7-4266-977E-EA7C298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852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6148BD46-E99F-4E51-AC8A-8B77C365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AA018769-7411-49F6-B408-FD4917B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Contacts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6320260F-1B23-4EAF-A0D1-B470CD4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200F54DF-D65D-4E20-9360-8562F8B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Site visit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C8BF6CCE-B45C-4A1A-B102-9EFC1A2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AEC3693A-36AD-489E-88B1-8010A29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Verbal scope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BB1FC5F8-45EE-4D99-867C-A160FF61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19747465-B88B-441A-B147-7F574096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Advance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1B5069A5-3EFB-40D6-B77B-39F3E4E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D040A620-2638-40B3-B969-5AEBC8A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Scope drift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AE23C89E-422F-4602-BC3B-C62780D5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9525">
            <a:solidFill>
              <a:srgbClr val="C65D2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DF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FDF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2352E397-24F8-4188-AD49-0303049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718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Budget fight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7AFF5AD6-0EBE-4ABD-8200-6A4E83B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E796296A-EE84-42A2-B387-288EE80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3762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1A069A94-27AA-4756-A1B0-9C82A96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Real competitor</a:t>
            </a:r>
          </a:p>
        </p:txBody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7CB965CA-5732-4F5C-85F8-5DA1D741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Informal process: no source of truth, no approval trail, no defensible estimate.</a:t>
            </a:r>
          </a:p>
        </p:txBody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9E195B7B-D4AA-4A0F-B553-834A8F4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C71FE558-A115-4455-918C-463C6460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3762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EF4509A0-DBDD-43DB-AA4D-F161CD1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10100"/>
            <a:ext cx="3419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BuildGuru</a:t>
            </a: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 replaces it</a:t>
            </a:r>
          </a:p>
        </p:txBody>
      </p:sp>
      <p:sp>
        <p:nvSpPr>
          <p:cNvPr id="28" name="Rectangles 27">
            <a:extLst xmlns:a="http://schemas.openxmlformats.org/drawingml/2006/main">
              <a:ext uri="{FF2B5EF4-FFF2-40B4-BE49-F238E27FC236}">
                <a16:creationId xmlns:a16="http://schemas.microsoft.com/office/drawing/2014/main" id="{1C1EFB2E-93F3-4484-8B58-96F228B6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3419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Clear estimate -&gt; locked scope -&gt; visible milestones -&gt; documents, team, and budget.</a:t>
            </a:r>
          </a:p>
        </p:txBody>
      </p:sp>
      <p:sp>
        <p:nvSpPr>
          <p:cNvPr id="29" name="Rectangles 28">
            <a:extLst xmlns:a="http://schemas.openxmlformats.org/drawingml/2006/main">
              <a:ext uri="{FF2B5EF4-FFF2-40B4-BE49-F238E27FC236}">
                <a16:creationId xmlns:a16="http://schemas.microsoft.com/office/drawing/2014/main" id="{C3958C4C-74AA-4360-A283-41EB354F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docs/INVESTOR_PITCH.md; Design Compass business implementation plan.</a:t>
            </a:r>
          </a:p>
        </p:txBody>
      </p:sp>
      <p:sp>
        <p:nvSpPr>
          <p:cNvPr id="30" name="Rectangles 29">
            <a:extLst xmlns:a="http://schemas.openxmlformats.org/drawingml/2006/main">
              <a:ext uri="{FF2B5EF4-FFF2-40B4-BE49-F238E27FC236}">
                <a16:creationId xmlns:a16="http://schemas.microsoft.com/office/drawing/2014/main" id="{2F04577D-D38F-4F07-BD3A-ADC6D66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5993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3AA0E606-B4A7-4190-A435-541B81A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CE07B07D-B2B1-45F5-A055-9DEEC2E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E025BD8C-FB61-4A79-84B2-07ACDD54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B90B57C8-7D9D-41EC-B610-B53DD100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EB966DE-60EC-494D-A255-C4AF6D2A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UVP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D99051E1-B141-4433-8D77-4D027E7C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 turns intent into a project graph everyone can trust.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13C727B5-626C-4F30-A292-E10EA8A2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71AF31D6-3088-4EE5-929D-0BB2F4BF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6190A942-7457-43AC-97FC-45A2CD66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1. Brief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8A1E52C8-F4AE-494B-ABF1-2E54152D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rooms, plot, Vastu, style, budget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FABE639B-C1C3-4B28-ACD7-F41EF9C5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432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2DBE9889-5294-4713-8372-FD7DF02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7170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FD2591E7-8D94-482C-94D5-EF275EC2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71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2EE52BCE-EF22-4F63-91AD-12519815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05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2. Estimate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2E680874-C35B-4314-AE43-CC7D526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289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quantities, ranges, assumptions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5478CD1E-BA3A-4A1B-8375-9F78B91A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261F79DA-DE40-44A0-92D3-2216CA28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3D050477-EC5C-4A93-9AC6-E9E14EB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B572765E-61ED-44AC-8C12-C8849D88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3. Scope lock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C5293302-EC6A-44C9-A526-9B7BF48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 / out, approvals, change log</a:t>
            </a:r>
          </a:p>
        </p:txBody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B85BCD8D-33EC-4039-A8DC-3530897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21908745-B357-4818-95C1-07267C03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7A7B808A-8112-4703-BB37-6143A63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0E7AB884-71E3-48D7-AA3F-D6647B83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05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4. Project room</a:t>
            </a:r>
          </a:p>
        </p:txBody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9F5048C3-4C9B-4548-8ABE-867328B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289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tasks, documents, team, budget</a:t>
            </a:r>
          </a:p>
        </p:txBody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F6B3F1B4-EA36-4899-A82B-DB714D58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432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28" name="Rectangles 27">
            <a:extLst xmlns:a="http://schemas.openxmlformats.org/drawingml/2006/main">
              <a:ext uri="{FF2B5EF4-FFF2-40B4-BE49-F238E27FC236}">
                <a16:creationId xmlns:a16="http://schemas.microsoft.com/office/drawing/2014/main" id="{DE0D28EA-A649-405C-A382-0B149FA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9" name="Rectangles 28">
            <a:extLst xmlns:a="http://schemas.openxmlformats.org/drawingml/2006/main">
              <a:ext uri="{FF2B5EF4-FFF2-40B4-BE49-F238E27FC236}">
                <a16:creationId xmlns:a16="http://schemas.microsoft.com/office/drawing/2014/main" id="{344BF191-BEEE-4DEF-A6F8-ADBC61B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30" name="Rectangles 29">
            <a:extLst xmlns:a="http://schemas.openxmlformats.org/drawingml/2006/main">
              <a:ext uri="{FF2B5EF4-FFF2-40B4-BE49-F238E27FC236}">
                <a16:creationId xmlns:a16="http://schemas.microsoft.com/office/drawing/2014/main" id="{67A7D643-D907-4DBD-A840-6D8B67BA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5. Execution layer</a:t>
            </a:r>
          </a:p>
        </p:txBody>
      </p:sp>
      <p:sp>
        <p:nvSpPr>
          <p:cNvPr id="31" name="Rectangles 30">
            <a:extLst xmlns:a="http://schemas.openxmlformats.org/drawingml/2006/main">
              <a:ext uri="{FF2B5EF4-FFF2-40B4-BE49-F238E27FC236}">
                <a16:creationId xmlns:a16="http://schemas.microsoft.com/office/drawing/2014/main" id="{126E6AC0-0062-4C9E-B5FA-FFEE6162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289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RFQ, payments, pro reputation</a:t>
            </a:r>
          </a:p>
        </p:txBody>
      </p:sp>
      <p:sp>
        <p:nvSpPr>
          <p:cNvPr id="32" name="Rectangles 31">
            <a:extLst xmlns:a="http://schemas.openxmlformats.org/drawingml/2006/main">
              <a:ext uri="{FF2B5EF4-FFF2-40B4-BE49-F238E27FC236}">
                <a16:creationId xmlns:a16="http://schemas.microsoft.com/office/drawing/2014/main" id="{FAF8FF0A-5C67-430E-8E04-A99E96ED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Why it is different</a:t>
            </a:r>
          </a:p>
        </p:txBody>
      </p:sp>
      <p:sp>
        <p:nvSpPr>
          <p:cNvPr id="33" name="Rectangles 32">
            <a:extLst xmlns:a="http://schemas.openxmlformats.org/drawingml/2006/main">
              <a:ext uri="{FF2B5EF4-FFF2-40B4-BE49-F238E27FC236}">
                <a16:creationId xmlns:a16="http://schemas.microsoft.com/office/drawing/2014/main" id="{CF1868B5-0D30-4082-8141-FB1486F9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India-first UX</a:t>
            </a:r>
          </a:p>
        </p:txBody>
      </p:sp>
      <p:sp>
        <p:nvSpPr>
          <p:cNvPr id="34" name="Rectangles 33">
            <a:extLst xmlns:a="http://schemas.openxmlformats.org/drawingml/2006/main">
              <a:ext uri="{FF2B5EF4-FFF2-40B4-BE49-F238E27FC236}">
                <a16:creationId xmlns:a16="http://schemas.microsoft.com/office/drawing/2014/main" id="{7DE036CF-14AA-4464-951D-3E2AD17A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6196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approval-grade estimates</a:t>
            </a:r>
          </a:p>
        </p:txBody>
      </p:sp>
      <p:sp>
        <p:nvSpPr>
          <p:cNvPr id="35" name="Rectangles 34">
            <a:extLst xmlns:a="http://schemas.openxmlformats.org/drawingml/2006/main">
              <a:ext uri="{FF2B5EF4-FFF2-40B4-BE49-F238E27FC236}">
                <a16:creationId xmlns:a16="http://schemas.microsoft.com/office/drawing/2014/main" id="{E015BAE9-92B8-4A08-83F4-3B00982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96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scope consensus</a:t>
            </a:r>
          </a:p>
        </p:txBody>
      </p:sp>
      <p:sp>
        <p:nvSpPr>
          <p:cNvPr id="36" name="Rectangles 35">
            <a:extLst xmlns:a="http://schemas.openxmlformats.org/drawingml/2006/main">
              <a:ext uri="{FF2B5EF4-FFF2-40B4-BE49-F238E27FC236}">
                <a16:creationId xmlns:a16="http://schemas.microsoft.com/office/drawing/2014/main" id="{3D023C89-B77E-423A-832A-4F98BA1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project memory</a:t>
            </a:r>
          </a:p>
        </p:txBody>
      </p:sp>
      <p:sp>
        <p:nvSpPr>
          <p:cNvPr id="37" name="Rectangles 36">
            <a:extLst xmlns:a="http://schemas.openxmlformats.org/drawingml/2006/main">
              <a:ext uri="{FF2B5EF4-FFF2-40B4-BE49-F238E27FC236}">
                <a16:creationId xmlns:a16="http://schemas.microsoft.com/office/drawing/2014/main" id="{55C7C023-1B14-43C2-99F9-41C19C2F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149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pro workflow</a:t>
            </a:r>
          </a:p>
        </p:txBody>
      </p:sp>
      <p:sp>
        <p:nvSpPr>
          <p:cNvPr id="38" name="Rectangles 37">
            <a:extLst xmlns:a="http://schemas.openxmlformats.org/drawingml/2006/main">
              <a:ext uri="{FF2B5EF4-FFF2-40B4-BE49-F238E27FC236}">
                <a16:creationId xmlns:a16="http://schemas.microsoft.com/office/drawing/2014/main" id="{A440050E-7FB9-4BA7-9434-DFB67C25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149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payments-ready state</a:t>
            </a:r>
          </a:p>
        </p:txBody>
      </p:sp>
      <p:sp>
        <p:nvSpPr>
          <p:cNvPr id="39" name="Rectangles 38">
            <a:extLst xmlns:a="http://schemas.openxmlformats.org/drawingml/2006/main">
              <a:ext uri="{FF2B5EF4-FFF2-40B4-BE49-F238E27FC236}">
                <a16:creationId xmlns:a16="http://schemas.microsoft.com/office/drawing/2014/main" id="{30F439DF-35C2-4A0F-A3C8-CA1B4A8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repo product flows; docs/PROJECT_MANAGEMENT_ROADMAP.md; memory/PRD.md.</a:t>
            </a:r>
          </a:p>
        </p:txBody>
      </p:sp>
      <p:sp>
        <p:nvSpPr>
          <p:cNvPr id="40" name="Rectangles 39">
            <a:extLst xmlns:a="http://schemas.openxmlformats.org/drawingml/2006/main">
              <a:ext uri="{FF2B5EF4-FFF2-40B4-BE49-F238E27FC236}">
                <a16:creationId xmlns:a16="http://schemas.microsoft.com/office/drawing/2014/main" id="{DC0A6C7B-632C-4647-ADC3-826ECC0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7722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868AD939-B581-427F-9C7E-9B32E2C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BB8F33B8-DD65-4384-AA3C-DD8A13B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ABAD00AA-D9C7-439E-873C-B1FB450F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591F1C6F-1DB7-4561-B27C-7846B23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F3B9D28-41EE-4789-852E-4FCA26B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COMPETITION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C703D149-51A3-45C4-93DA-0AF396C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85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Incumbents own inspiration, discovery, or execution; </a:t>
            </a: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BuildGuru</a:t>
            </a: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 owns pre-execution truth.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CF0FF60F-0C5F-4EEE-B1F1-DD40F88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1B9A2FF8-58A1-4F40-A86D-9E01E7D8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1296E7CB-22DD-4F2C-A74D-580ACC51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435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Inspiration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DAC0B15B-951A-45B6-BD8B-FC7CF6CF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Operating system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4B83316C-CF49-4EBB-BEF3-6ADB60CE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0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Control preserved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7ACB381A-B237-436D-A84F-AC23AB90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Outsourced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95A751F1-BA18-4B7B-BCC2-912552F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719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2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Inspiration / listings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BE1FA2D9-6B38-4912-9514-E0EA324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Service marketplaces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9CA8E394-8BCE-4855-B90D-F47CC56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015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Managed interiors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87213D54-18CD-4B27-82E8-D8438BB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BuildGuru</a:t>
            </a: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F8D0D98D-D6C6-4608-8674-58AC02C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The missing layer is before money moves: estimate, scope, approval trail, and project state.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4BB43323-7761-406A-AD70-8C46635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Design Compass competitor landscape and internal positioning.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D229E802-7697-42B9-BE85-8D630385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43131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B173A180-8B87-4576-AA6A-1EC362A9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DBB62038-2783-42D3-8FCD-EA9593F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DD70CA43-830D-402A-87B9-DC25F4B9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BF96185-5BB1-4804-B59F-605A1D8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A90E6AB-FF0B-4842-BED7-A8C8F01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TEAM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F11AABC0-FF8B-49F9-ACDD-E6CA7FCD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858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Founder-market fit: AI product discipline plus lived construction context.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D0C4F9F9-3A93-4F3D-B828-9B42971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4"/>
          </a:solidFill>
          <a:ln xmlns:a="http://schemas.openxmlformats.org/drawingml/2006/main" w="0">
            <a:solidFill>
              <a:srgbClr val="173B34"/>
            </a:solidFill>
            <a:prstDash val="solid"/>
          </a:ln>
        </p:spPr>
        <p:txBody>
          <a:bodyPr xmlns:a="http://schemas.openxmlformats.org/drawingml/2006/main" lIns="209550" tIns="171450" rIns="17145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Mokshith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Founder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07E88D6D-E81D-4B8A-A627-9BEF88D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4AB3016D-521D-4600-9418-55DF251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8F09EFE1-BA59-4DB4-8005-2F11B6B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859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Technical operator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F66D0E8A-DBEF-4A46-8068-7C26718B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982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Computer Science background; Cisco execution environment; able to ship high-expectation systems.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5B26348C-8F47-4C04-9E7E-30A4EC1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ACB6C02D-B845-4CD9-9B6E-0EA9F9BB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4530A88A-BA2E-427D-8FF0-380E9F6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859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AI + business</a:t>
            </a:r>
          </a:p>
        </p:txBody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37BC91D0-4DE1-4AF8-9578-AA0CF86A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0982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Arizona State University work across artificial intelligence and business management.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804E89CA-A4BE-46DF-90AF-A7780FAC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0CE547E1-3B7F-464C-B3D6-C3AC1921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494A9508-E41B-4AEE-9F5E-D661D4BC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Domain DNA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A3A20B7B-7428-4B5E-A57E-A8F0F9DC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2902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Son of a civil engineer in house planning; grew up around drawings, estimates, and site reality.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3A9DA831-6B0A-4FDA-A8A8-F04486F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71825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E5EFF282-6BC7-4431-888B-BBDECD6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7182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E0A614B3-D195-43C5-833B-5AC1B424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51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Operator hunger</a:t>
            </a:r>
          </a:p>
        </p:txBody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D96C48A9-84CC-498D-94D4-26B1643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2902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Middle-class India background with a practical bias toward execution and ownership.</a:t>
            </a:r>
          </a:p>
        </p:txBody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A2102CAD-9EF6-4BC4-9DC5-9CAA9FA8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B3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3B34"/>
                </a:solidFill>
                <a:latin typeface="Georgia"/>
                <a:ea typeface="Georgia"/>
                <a:cs typeface="Georgia"/>
              </a:rPr>
              <a:t>Next team layer: senior full-stack, ML product, design, city GTM, and customer operations.</a:t>
            </a:r>
          </a:p>
        </p:txBody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596AEAB6-9FE7-4A5E-A0DC-6273085B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Source: docs/INVESTOR_PITCH.md team section. Confirm legal full name before external circulation.</a:t>
            </a:r>
          </a:p>
        </p:txBody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3B44DB7C-CCFC-48A5-BABD-214EB69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43523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66D3D6DA-3AA6-4376-B00C-34D2847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9"/>
          </a:solidFill>
          <a:ln xmlns:a="http://schemas.openxmlformats.org/drawingml/2006/main" w="0">
            <a:solidFill>
              <a:srgbClr val="F7F1E9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05C52ED8-3420-4970-9D71-756819D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E034B0FF-43BC-47F2-AF09-284FC642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0C1"/>
          </a:solidFill>
          <a:ln xmlns:a="http://schemas.openxmlformats.org/drawingml/2006/main" w="0">
            <a:solidFill>
              <a:srgbClr val="DED0C1"/>
            </a:solidFill>
            <a:prstDash val="solid"/>
          </a:ln>
        </p:spPr>
      </p:sp>
      <p:sp>
        <p:nvSpPr>
          <p:cNvPr id="5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7308203-DA35-4D51-9D0D-128C4CF5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6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78B28C8-B7FC-4527-AA05-79E30B23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9E4826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BAB865C9-F293-410C-85CD-06E43D5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Roadmap focuses on proof before marketplace scale.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405DE678-8BE3-4369-BC73-857CDB58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0-6 months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85E44751-6382-4FA8-A63D-25C3AE0D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B9B498EA-92C8-4ED0-8F8A-513FFFD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14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5240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Harden core product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first paid homeowner or pro flow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3-5 lighthouse projects</a:t>
            </a:r>
          </a:p>
        </p:txBody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658EA3DF-2CB6-43E2-8046-7DA34B15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6-12 months</a:t>
            </a:r>
          </a:p>
        </p:txBody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CA71F589-AE7C-46C4-8A44-F8D09E50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05125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3F73A7E1-0E2C-4E17-BA77-41AC111F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2714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5240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repeat project-room usage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RFQ marketplace v1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NPS and referral signal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8314780F-8CF6-4EE8-A1D9-4D3C80E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383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51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1513"/>
                </a:solidFill>
                <a:latin typeface="Georgia"/>
                <a:ea typeface="Georgia"/>
                <a:cs typeface="Georgia"/>
              </a:rPr>
              <a:t>12-18 months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4FF79A50-9577-4BF3-BCFD-8F25D7E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05125"/>
            <a:ext cx="2714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34E501D9-5D7E-4F9D-A171-34616A9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2714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  <p:txBody>
          <a:bodyPr xmlns:a="http://schemas.openxmlformats.org/drawingml/2006/main" lIns="171450" tIns="152400" rIns="152400" bIns="1333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GMV or ARR north-star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commission, SaaS, or B2B pro seats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Series A narrative</a:t>
            </a:r>
          </a:p>
        </p:txBody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5B4623C2-AD79-49ED-B6C8-DDB1C5B7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833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ED0C1"/>
            </a:solidFill>
            <a:prstDash val="solid"/>
          </a:ln>
        </p:spPr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9B008926-E0A3-40F9-B801-E5807B95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833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B5B"/>
          </a:solidFill>
          <a:ln xmlns:a="http://schemas.openxmlformats.org/drawingml/2006/main" w="0">
            <a:solidFill>
              <a:srgbClr val="226B5B"/>
            </a:solidFill>
            <a:prstDash val="solid"/>
          </a:ln>
        </p:spPr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D2846FC9-DF63-4D0C-AEC6-1ABC9AE1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7991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1513"/>
                </a:solidFill>
                <a:latin typeface="Avenir Next"/>
                <a:ea typeface="Avenir Next"/>
                <a:cs typeface="Avenir Next"/>
              </a:rPr>
              <a:t>Board KPIs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1CE4109B-FC0D-409D-9AA3-31F9A51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7991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time to usable brief, estimate completion, scope-lock rate, pro add rate, repeat sessions, NPS</a:t>
            </a:r>
          </a:p>
        </p:txBody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05269559-3112-430E-ACEA-C4895A9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6F655C"/>
                </a:solidFill>
                <a:latin typeface="Avenir Next"/>
                <a:ea typeface="Avenir Next"/>
                <a:cs typeface="Avenir Next"/>
              </a:rPr>
              <a:t>Sources: docs/INVESTOR_PITCH.md traction section; docs/PROJECT_MANAGEMENT_ROADMAP.md.</a:t>
            </a:r>
          </a:p>
        </p:txBody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954B4D60-9FCF-4329-B143-6E87D960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9E4826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E482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45781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s 1">
            <a:extLst xmlns:a="http://schemas.openxmlformats.org/drawingml/2006/main">
              <a:ext uri="{FF2B5EF4-FFF2-40B4-BE49-F238E27FC236}">
                <a16:creationId xmlns:a16="http://schemas.microsoft.com/office/drawing/2014/main" id="{7347552B-CDC9-4664-B89E-9E1C16A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3"/>
          </a:solidFill>
          <a:ln xmlns:a="http://schemas.openxmlformats.org/drawingml/2006/main" w="0">
            <a:solidFill>
              <a:srgbClr val="171513"/>
            </a:solidFill>
            <a:prstDash val="solid"/>
          </a:ln>
        </p:spPr>
      </p:sp>
      <p:sp>
        <p:nvSpPr>
          <p:cNvPr id="3" name="Rectangles 2">
            <a:extLst xmlns:a="http://schemas.openxmlformats.org/drawingml/2006/main">
              <a:ext uri="{FF2B5EF4-FFF2-40B4-BE49-F238E27FC236}">
                <a16:creationId xmlns:a16="http://schemas.microsoft.com/office/drawing/2014/main" id="{D79AF52C-5A2F-4770-BCFE-65BA522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4" name="Rectangles 3">
            <a:extLst xmlns:a="http://schemas.openxmlformats.org/drawingml/2006/main">
              <a:ext uri="{FF2B5EF4-FFF2-40B4-BE49-F238E27FC236}">
                <a16:creationId xmlns:a16="http://schemas.microsoft.com/office/drawing/2014/main" id="{DB153361-C7DB-452E-BFF4-BDB903BB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93B"/>
          </a:solidFill>
          <a:ln xmlns:a="http://schemas.openxmlformats.org/drawingml/2006/main" w="0">
            <a:solidFill>
              <a:srgbClr val="5A493B"/>
            </a:solidFill>
            <a:prstDash val="solid"/>
          </a:ln>
        </p:spPr>
      </p:sp>
      <p:sp>
        <p:nvSpPr>
          <p:cNvPr id="5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18D068C-B1F7-4297-B801-01D1BD1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6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2A3482EA-33F1-4FDD-A60B-8C394217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0C884"/>
                </a:solidFill>
                <a:latin typeface="Avenir Next"/>
                <a:ea typeface="Avenir Next"/>
                <a:cs typeface="Avenir Next"/>
              </a:rPr>
              <a:t>USE OF FUNDS</a:t>
            </a:r>
          </a:p>
        </p:txBody>
      </p:sp>
      <p:sp>
        <p:nvSpPr>
          <p:cNvPr id="7" name="Rectangles 6">
            <a:extLst xmlns:a="http://schemas.openxmlformats.org/drawingml/2006/main">
              <a:ext uri="{FF2B5EF4-FFF2-40B4-BE49-F238E27FC236}">
                <a16:creationId xmlns:a16="http://schemas.microsoft.com/office/drawing/2014/main" id="{F669289D-E64B-4611-9D47-86DE704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Capital should fund product depth, city-one trust, and proof metrics.</a:t>
            </a:r>
          </a:p>
        </p:txBody>
      </p:sp>
      <p:sp>
        <p:nvSpPr>
          <p:cNvPr id="8" name="Rectangles 7">
            <a:extLst xmlns:a="http://schemas.openxmlformats.org/drawingml/2006/main">
              <a:ext uri="{FF2B5EF4-FFF2-40B4-BE49-F238E27FC236}">
                <a16:creationId xmlns:a16="http://schemas.microsoft.com/office/drawing/2014/main" id="{71D52E2E-780D-4F62-A091-77C7EB70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C9B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6C9BD"/>
                </a:solidFill>
                <a:latin typeface="Avenir Next"/>
                <a:ea typeface="Avenir Next"/>
                <a:cs typeface="Avenir Next"/>
              </a:rPr>
              <a:t>No explicit raise amount included. This slide frames deployment priorities once terms are set.</a:t>
            </a:r>
          </a:p>
        </p:txBody>
      </p:sp>
      <p:sp>
        <p:nvSpPr>
          <p:cNvPr id="9" name="Rectangles 8">
            <a:extLst xmlns:a="http://schemas.openxmlformats.org/drawingml/2006/main">
              <a:ext uri="{FF2B5EF4-FFF2-40B4-BE49-F238E27FC236}">
                <a16:creationId xmlns:a16="http://schemas.microsoft.com/office/drawing/2014/main" id="{A87D1264-6329-42F4-85FA-D5BC587D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Product &amp; engineering</a:t>
            </a:r>
          </a:p>
        </p:txBody>
      </p:sp>
      <p:sp>
        <p:nvSpPr>
          <p:cNvPr id="10" name="Rectangles 9">
            <a:extLst xmlns:a="http://schemas.openxmlformats.org/drawingml/2006/main">
              <a:ext uri="{FF2B5EF4-FFF2-40B4-BE49-F238E27FC236}">
                <a16:creationId xmlns:a16="http://schemas.microsoft.com/office/drawing/2014/main" id="{A8245919-A346-4DCD-8D04-391D8E2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1" name="Rectangles 10">
            <a:extLst xmlns:a="http://schemas.openxmlformats.org/drawingml/2006/main">
              <a:ext uri="{FF2B5EF4-FFF2-40B4-BE49-F238E27FC236}">
                <a16:creationId xmlns:a16="http://schemas.microsoft.com/office/drawing/2014/main" id="{442EC464-A554-4F86-B7A2-FFDC9C49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931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549"/>
          </a:solidFill>
          <a:ln xmlns:a="http://schemas.openxmlformats.org/drawingml/2006/main" w="0">
            <a:solidFill>
              <a:srgbClr val="E2A549"/>
            </a:solidFill>
            <a:prstDash val="solid"/>
          </a:ln>
        </p:spPr>
      </p:sp>
      <p:sp>
        <p:nvSpPr>
          <p:cNvPr id="12" name="Rectangles 11">
            <a:extLst xmlns:a="http://schemas.openxmlformats.org/drawingml/2006/main">
              <a:ext uri="{FF2B5EF4-FFF2-40B4-BE49-F238E27FC236}">
                <a16:creationId xmlns:a16="http://schemas.microsoft.com/office/drawing/2014/main" id="{2BE88A50-C259-4672-BD0F-C465A2D3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48%</a:t>
            </a:r>
          </a:p>
        </p:txBody>
      </p:sp>
      <p:sp>
        <p:nvSpPr>
          <p:cNvPr id="13" name="Rectangles 12">
            <a:extLst xmlns:a="http://schemas.openxmlformats.org/drawingml/2006/main">
              <a:ext uri="{FF2B5EF4-FFF2-40B4-BE49-F238E27FC236}">
                <a16:creationId xmlns:a16="http://schemas.microsoft.com/office/drawing/2014/main" id="{6213EF01-FEB7-42E8-9176-8377769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estimation, scope lock, project room, reliability, security</a:t>
            </a:r>
          </a:p>
        </p:txBody>
      </p:sp>
      <p:sp>
        <p:nvSpPr>
          <p:cNvPr id="14" name="Rectangles 13">
            <a:extLst xmlns:a="http://schemas.openxmlformats.org/drawingml/2006/main">
              <a:ext uri="{FF2B5EF4-FFF2-40B4-BE49-F238E27FC236}">
                <a16:creationId xmlns:a16="http://schemas.microsoft.com/office/drawing/2014/main" id="{7599D6FD-7231-4635-90E3-44CE642F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India GTM</a:t>
            </a:r>
          </a:p>
        </p:txBody>
      </p:sp>
      <p:sp>
        <p:nvSpPr>
          <p:cNvPr id="15" name="Rectangles 14">
            <a:extLst xmlns:a="http://schemas.openxmlformats.org/drawingml/2006/main">
              <a:ext uri="{FF2B5EF4-FFF2-40B4-BE49-F238E27FC236}">
                <a16:creationId xmlns:a16="http://schemas.microsoft.com/office/drawing/2014/main" id="{D2D2B354-3658-4506-B22F-7963259B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16" name="Rectangles 15">
            <a:extLst xmlns:a="http://schemas.openxmlformats.org/drawingml/2006/main">
              <a:ext uri="{FF2B5EF4-FFF2-40B4-BE49-F238E27FC236}">
                <a16:creationId xmlns:a16="http://schemas.microsoft.com/office/drawing/2014/main" id="{45B2F906-8222-4C14-A014-23D660F8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19659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s 16">
            <a:extLst xmlns:a="http://schemas.openxmlformats.org/drawingml/2006/main">
              <a:ext uri="{FF2B5EF4-FFF2-40B4-BE49-F238E27FC236}">
                <a16:creationId xmlns:a16="http://schemas.microsoft.com/office/drawing/2014/main" id="{A490059F-6295-4C03-B5C2-D4E00819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24%</a:t>
            </a:r>
          </a:p>
        </p:txBody>
      </p:sp>
      <p:sp>
        <p:nvSpPr>
          <p:cNvPr id="18" name="Rectangles 17">
            <a:extLst xmlns:a="http://schemas.openxmlformats.org/drawingml/2006/main">
              <a:ext uri="{FF2B5EF4-FFF2-40B4-BE49-F238E27FC236}">
                <a16:creationId xmlns:a16="http://schemas.microsoft.com/office/drawing/2014/main" id="{9A0B577B-CA1D-4818-8923-718C4E4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handover partnerships, pro acquisition, content, city wedge</a:t>
            </a:r>
          </a:p>
        </p:txBody>
      </p:sp>
      <p:sp>
        <p:nvSpPr>
          <p:cNvPr id="19" name="Rectangles 18">
            <a:extLst xmlns:a="http://schemas.openxmlformats.org/drawingml/2006/main">
              <a:ext uri="{FF2B5EF4-FFF2-40B4-BE49-F238E27FC236}">
                <a16:creationId xmlns:a16="http://schemas.microsoft.com/office/drawing/2014/main" id="{14BF6E1E-AF9D-47C0-8FB9-DBA51D0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Operations &amp; hiring</a:t>
            </a:r>
          </a:p>
        </p:txBody>
      </p:sp>
      <p:sp>
        <p:nvSpPr>
          <p:cNvPr id="20" name="Rectangles 19">
            <a:extLst xmlns:a="http://schemas.openxmlformats.org/drawingml/2006/main">
              <a:ext uri="{FF2B5EF4-FFF2-40B4-BE49-F238E27FC236}">
                <a16:creationId xmlns:a16="http://schemas.microsoft.com/office/drawing/2014/main" id="{CCD8E97B-96C7-4B0B-912B-0D2F7CB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243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1" name="Rectangles 20">
            <a:extLst xmlns:a="http://schemas.openxmlformats.org/drawingml/2006/main">
              <a:ext uri="{FF2B5EF4-FFF2-40B4-BE49-F238E27FC236}">
                <a16:creationId xmlns:a16="http://schemas.microsoft.com/office/drawing/2014/main" id="{E9E561DB-672B-4F24-BAC7-24B634CB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24300"/>
            <a:ext cx="10648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2E"/>
          </a:solidFill>
          <a:ln xmlns:a="http://schemas.openxmlformats.org/drawingml/2006/main" w="0">
            <a:solidFill>
              <a:srgbClr val="C65D2E"/>
            </a:solidFill>
            <a:prstDash val="solid"/>
          </a:ln>
        </p:spPr>
      </p:sp>
      <p:sp>
        <p:nvSpPr>
          <p:cNvPr id="22" name="Rectangles 21">
            <a:extLst xmlns:a="http://schemas.openxmlformats.org/drawingml/2006/main">
              <a:ext uri="{FF2B5EF4-FFF2-40B4-BE49-F238E27FC236}">
                <a16:creationId xmlns:a16="http://schemas.microsoft.com/office/drawing/2014/main" id="{6F562C58-84CE-4D2E-98F2-16D01F7A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13%</a:t>
            </a:r>
          </a:p>
        </p:txBody>
      </p:sp>
      <p:sp>
        <p:nvSpPr>
          <p:cNvPr id="23" name="Rectangles 22">
            <a:extLst xmlns:a="http://schemas.openxmlformats.org/drawingml/2006/main">
              <a:ext uri="{FF2B5EF4-FFF2-40B4-BE49-F238E27FC236}">
                <a16:creationId xmlns:a16="http://schemas.microsoft.com/office/drawing/2014/main" id="{2EE37CAF-1CDE-48E1-8465-0CA5578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support, legal, finance, marketplace readiness</a:t>
            </a:r>
          </a:p>
        </p:txBody>
      </p:sp>
      <p:sp>
        <p:nvSpPr>
          <p:cNvPr id="24" name="Rectangles 23">
            <a:extLst xmlns:a="http://schemas.openxmlformats.org/drawingml/2006/main">
              <a:ext uri="{FF2B5EF4-FFF2-40B4-BE49-F238E27FC236}">
                <a16:creationId xmlns:a16="http://schemas.microsoft.com/office/drawing/2014/main" id="{AA2BD474-BFB1-4E07-B002-6E85477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9CDBF"/>
                </a:solidFill>
                <a:latin typeface="Avenir Next"/>
                <a:ea typeface="Avenir Next"/>
                <a:cs typeface="Avenir Next"/>
              </a:rPr>
              <a:t>Buffer</a:t>
            </a:r>
          </a:p>
        </p:txBody>
      </p:sp>
      <p:sp>
        <p:nvSpPr>
          <p:cNvPr id="25" name="Rectangles 24">
            <a:extLst xmlns:a="http://schemas.openxmlformats.org/drawingml/2006/main">
              <a:ext uri="{FF2B5EF4-FFF2-40B4-BE49-F238E27FC236}">
                <a16:creationId xmlns:a16="http://schemas.microsoft.com/office/drawing/2014/main" id="{4F6EF246-3914-4BF6-9106-80FA503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2B25"/>
          </a:solidFill>
          <a:ln xmlns:a="http://schemas.openxmlformats.org/drawingml/2006/main" w="0">
            <a:solidFill>
              <a:srgbClr val="322B25"/>
            </a:solidFill>
            <a:prstDash val="solid"/>
          </a:ln>
        </p:spPr>
      </p:sp>
      <p:sp>
        <p:nvSpPr>
          <p:cNvPr id="26" name="Rectangles 25">
            <a:extLst xmlns:a="http://schemas.openxmlformats.org/drawingml/2006/main">
              <a:ext uri="{FF2B5EF4-FFF2-40B4-BE49-F238E27FC236}">
                <a16:creationId xmlns:a16="http://schemas.microsoft.com/office/drawing/2014/main" id="{D6C9C576-253A-4D60-83C3-45C2262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1228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73"/>
          </a:solidFill>
          <a:ln xmlns:a="http://schemas.openxmlformats.org/drawingml/2006/main" w="0">
            <a:solidFill>
              <a:srgbClr val="2B5C73"/>
            </a:solidFill>
            <a:prstDash val="solid"/>
          </a:ln>
        </p:spPr>
      </p:sp>
      <p:sp>
        <p:nvSpPr>
          <p:cNvPr id="27" name="Rectangles 26">
            <a:extLst xmlns:a="http://schemas.openxmlformats.org/drawingml/2006/main">
              <a:ext uri="{FF2B5EF4-FFF2-40B4-BE49-F238E27FC236}">
                <a16:creationId xmlns:a16="http://schemas.microsoft.com/office/drawing/2014/main" id="{CF6EC770-AE00-4016-846A-37AE353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28" name="Rectangles 27">
            <a:extLst xmlns:a="http://schemas.openxmlformats.org/drawingml/2006/main">
              <a:ext uri="{FF2B5EF4-FFF2-40B4-BE49-F238E27FC236}">
                <a16:creationId xmlns:a16="http://schemas.microsoft.com/office/drawing/2014/main" id="{5D8D2706-F677-43BE-899A-3AF2E0AF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defRPr>
            </a:pPr>
            <a:r>
              <a:rPr sz="790" b="0">
                <a:solidFill>
                  <a:srgbClr val="BFB2A7"/>
                </a:solidFill>
                <a:latin typeface="Avenir Next"/>
                <a:ea typeface="Avenir Next"/>
                <a:cs typeface="Avenir Next"/>
              </a:rPr>
              <a:t>construction cycles and trust-building runway</a:t>
            </a:r>
          </a:p>
        </p:txBody>
      </p:sp>
      <p:sp>
        <p:nvSpPr>
          <p:cNvPr id="29" name="Rectangles 28">
            <a:extLst xmlns:a="http://schemas.openxmlformats.org/drawingml/2006/main">
              <a:ext uri="{FF2B5EF4-FFF2-40B4-BE49-F238E27FC236}">
                <a16:creationId xmlns:a16="http://schemas.microsoft.com/office/drawing/2014/main" id="{3FF68F4F-94E0-4381-9228-BD8DABD9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2A549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E2A549"/>
                </a:solidFill>
                <a:latin typeface="Georgia"/>
                <a:ea typeface="Georgia"/>
                <a:cs typeface="Georgia"/>
              </a:rPr>
              <a:t>Funding milestone</a:t>
            </a:r>
          </a:p>
        </p:txBody>
      </p:sp>
      <p:sp>
        <p:nvSpPr>
          <p:cNvPr id="30" name="Rectangles 29">
            <a:extLst xmlns:a="http://schemas.openxmlformats.org/drawingml/2006/main">
              <a:ext uri="{FF2B5EF4-FFF2-40B4-BE49-F238E27FC236}">
                <a16:creationId xmlns:a16="http://schemas.microsoft.com/office/drawing/2014/main" id="{C2BE38FE-ACAB-42F5-ADAB-A0EF1687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DF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DF9"/>
                </a:solidFill>
                <a:latin typeface="Avenir Next"/>
                <a:ea typeface="Avenir Next"/>
                <a:cs typeface="Avenir Next"/>
              </a:rPr>
              <a:t>Paid clarity, repeat project-room usage, and marketplace/RFQ signal strong enough for the next institutional round.</a:t>
            </a:r>
          </a:p>
        </p:txBody>
      </p:sp>
      <p:sp>
        <p:nvSpPr>
          <p:cNvPr id="31" name="Rectangles 30">
            <a:extLst xmlns:a="http://schemas.openxmlformats.org/drawingml/2006/main">
              <a:ext uri="{FF2B5EF4-FFF2-40B4-BE49-F238E27FC236}">
                <a16:creationId xmlns:a16="http://schemas.microsoft.com/office/drawing/2014/main" id="{5DE683A0-6DD0-45FC-BDBF-1EFA059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40" b="0">
                <a:solidFill>
                  <a:srgbClr val="A99C90"/>
                </a:solidFill>
                <a:latin typeface="Avenir Next"/>
                <a:ea typeface="Avenir Next"/>
                <a:cs typeface="Avenir Next"/>
              </a:defRPr>
            </a:pPr>
            <a:r>
              <a:rPr sz="640" b="0">
                <a:solidFill>
                  <a:srgbClr val="A99C90"/>
                </a:solidFill>
                <a:latin typeface="Avenir Next"/>
                <a:ea typeface="Avenir Next"/>
                <a:cs typeface="Avenir Next"/>
              </a:rPr>
              <a:t>Indicative allocation only. Align exact round size and terms with counsel and investor lead.</a:t>
            </a:r>
          </a:p>
        </p:txBody>
      </p:sp>
      <p:sp>
        <p:nvSpPr>
          <p:cNvPr id="32" name="Rectangles 31">
            <a:extLst xmlns:a="http://schemas.openxmlformats.org/drawingml/2006/main">
              <a:ext uri="{FF2B5EF4-FFF2-40B4-BE49-F238E27FC236}">
                <a16:creationId xmlns:a16="http://schemas.microsoft.com/office/drawing/2014/main" id="{779EE320-2C52-4379-9F95-22E07E6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67450"/>
            <a:ext cx="523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E2A54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E2A549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7626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2026-07-31T20:24:48.6980000Z</dcterms:created>
  <dcterms:modified xsi:type="dcterms:W3CDTF">2026-07-31T20:24:48.6980000Z</dcterms:modified>
</coreProperties>
</file>