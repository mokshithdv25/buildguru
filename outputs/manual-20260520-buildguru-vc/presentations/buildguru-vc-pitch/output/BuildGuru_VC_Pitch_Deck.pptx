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50dda1c5cb43de" /><Relationship Type="http://schemas.openxmlformats.org/officeDocument/2006/relationships/extended-properties" Target="/docProps/app.xml" Id="Re9b2e134ed1c4005" /><Relationship Type="http://schemas.openxmlformats.org/officeDocument/2006/relationships/officeDocument" Target="/ppt/presentation.xml" Id="R6652d644a4f148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be000c22c0433f"/>
  </p:sldMasterIdLst>
  <p:notesMasterIdLst>
    <p:notesMasterId xmlns:r="http://schemas.openxmlformats.org/officeDocument/2006/relationships" r:id="R3fd13132257d4bd3"/>
  </p:notesMasterIdLst>
  <p:sldIdLst>
    <p:sldId xmlns:r="http://schemas.openxmlformats.org/officeDocument/2006/relationships" id="256" r:id="R2f34861df4204262"/>
    <p:sldId xmlns:r="http://schemas.openxmlformats.org/officeDocument/2006/relationships" id="257" r:id="Rb5416dab4c734857"/>
    <p:sldId xmlns:r="http://schemas.openxmlformats.org/officeDocument/2006/relationships" id="258" r:id="Rffca1bc179084f6b"/>
    <p:sldId xmlns:r="http://schemas.openxmlformats.org/officeDocument/2006/relationships" id="259" r:id="R4d7a5e4eff7b4e92"/>
    <p:sldId xmlns:r="http://schemas.openxmlformats.org/officeDocument/2006/relationships" id="260" r:id="R9ee36e31b5bc41e4"/>
    <p:sldId xmlns:r="http://schemas.openxmlformats.org/officeDocument/2006/relationships" id="261" r:id="Rccd192e7dd964ffd"/>
    <p:sldId xmlns:r="http://schemas.openxmlformats.org/officeDocument/2006/relationships" id="262" r:id="R137617004ac94f1e"/>
    <p:sldId xmlns:r="http://schemas.openxmlformats.org/officeDocument/2006/relationships" id="263" r:id="R3da06cc4f8d045e4"/>
    <p:sldId xmlns:r="http://schemas.openxmlformats.org/officeDocument/2006/relationships" id="264" r:id="R7df4baf6284c432b"/>
    <p:sldId xmlns:r="http://schemas.openxmlformats.org/officeDocument/2006/relationships" id="265" r:id="Rc0247a651ca5449b"/>
    <p:sldId xmlns:r="http://schemas.openxmlformats.org/officeDocument/2006/relationships" id="266" r:id="R19a8ea1584234de8"/>
    <p:sldId xmlns:r="http://schemas.openxmlformats.org/officeDocument/2006/relationships" id="267" r:id="R9d22f1fc77f84d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885937606c4895" /><Relationship Type="http://schemas.openxmlformats.org/officeDocument/2006/relationships/slideMaster" Target="/ppt/slideMasters/slideMaster1.xml" Id="Rf5be000c22c0433f" /><Relationship Type="http://schemas.openxmlformats.org/officeDocument/2006/relationships/notesMaster" Target="/ppt/notesMasters/notesMaster1.xml" Id="R3fd13132257d4bd3" /><Relationship Type="http://schemas.openxmlformats.org/officeDocument/2006/relationships/presProps" Target="/ppt/presProps.xml" Id="R0d06bd8f4ba7430a" /><Relationship Type="http://schemas.openxmlformats.org/officeDocument/2006/relationships/viewProps" Target="/ppt/viewProps.xml" Id="Rdf0dd072871e44f6" /><Relationship Type="http://schemas.openxmlformats.org/officeDocument/2006/relationships/tableStyles" Target="/ppt/tableStyles.xml" Id="R4b18e2f0fb6c4bd9" /><Relationship Type="http://schemas.openxmlformats.org/officeDocument/2006/relationships/slide" Target="/ppt/slides/slide1.xml" Id="R2f34861df4204262" /><Relationship Type="http://schemas.openxmlformats.org/officeDocument/2006/relationships/slide" Target="/ppt/slides/slide2.xml" Id="Rb5416dab4c734857" /><Relationship Type="http://schemas.openxmlformats.org/officeDocument/2006/relationships/slide" Target="/ppt/slides/slide3.xml" Id="Rffca1bc179084f6b" /><Relationship Type="http://schemas.openxmlformats.org/officeDocument/2006/relationships/slide" Target="/ppt/slides/slide4.xml" Id="R4d7a5e4eff7b4e92" /><Relationship Type="http://schemas.openxmlformats.org/officeDocument/2006/relationships/slide" Target="/ppt/slides/slide5.xml" Id="R9ee36e31b5bc41e4" /><Relationship Type="http://schemas.openxmlformats.org/officeDocument/2006/relationships/slide" Target="/ppt/slides/slide6.xml" Id="Rccd192e7dd964ffd" /><Relationship Type="http://schemas.openxmlformats.org/officeDocument/2006/relationships/slide" Target="/ppt/slides/slide7.xml" Id="R137617004ac94f1e" /><Relationship Type="http://schemas.openxmlformats.org/officeDocument/2006/relationships/slide" Target="/ppt/slides/slide8.xml" Id="R3da06cc4f8d045e4" /><Relationship Type="http://schemas.openxmlformats.org/officeDocument/2006/relationships/slide" Target="/ppt/slides/slide9.xml" Id="R7df4baf6284c432b" /><Relationship Type="http://schemas.openxmlformats.org/officeDocument/2006/relationships/slide" Target="/ppt/slides/slide10.xml" Id="Rc0247a651ca5449b" /><Relationship Type="http://schemas.openxmlformats.org/officeDocument/2006/relationships/slide" Target="/ppt/slides/slide11.xml" Id="R19a8ea1584234de8" /><Relationship Type="http://schemas.openxmlformats.org/officeDocument/2006/relationships/slide" Target="/ppt/slides/slide12.xml" Id="R9d22f1fc77f84d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3e014fbeec46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d0e9136cb548a9" /><Relationship Type="http://schemas.openxmlformats.org/officeDocument/2006/relationships/notesMaster" Target="/ppt/notesMasters/notesMaster1.xml" Id="Rec752bba120847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aa471e578049e7" /><Relationship Type="http://schemas.openxmlformats.org/officeDocument/2006/relationships/notesMaster" Target="/ppt/notesMasters/notesMaster1.xml" Id="Re83695aaa45443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5d0affadd743a9" /><Relationship Type="http://schemas.openxmlformats.org/officeDocument/2006/relationships/notesMaster" Target="/ppt/notesMasters/notesMaster1.xml" Id="Rad0c7cc6c1cc42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c75379d31b415c" /><Relationship Type="http://schemas.openxmlformats.org/officeDocument/2006/relationships/notesMaster" Target="/ppt/notesMasters/notesMaster1.xml" Id="Re0e64468859f42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e8a3aad01d4569" /><Relationship Type="http://schemas.openxmlformats.org/officeDocument/2006/relationships/notesMaster" Target="/ppt/notesMasters/notesMaster1.xml" Id="R98c2e8de7ef04d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40418c42df4302" /><Relationship Type="http://schemas.openxmlformats.org/officeDocument/2006/relationships/notesMaster" Target="/ppt/notesMasters/notesMaster1.xml" Id="R95bb27677fbd4b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bfb80b974d47b0" /><Relationship Type="http://schemas.openxmlformats.org/officeDocument/2006/relationships/notesMaster" Target="/ppt/notesMasters/notesMaster1.xml" Id="Rcb0372e193b041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ed839b9e9749c1" /><Relationship Type="http://schemas.openxmlformats.org/officeDocument/2006/relationships/notesMaster" Target="/ppt/notesMasters/notesMaster1.xml" Id="R140b16cadb2849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682bd0fa294947" /><Relationship Type="http://schemas.openxmlformats.org/officeDocument/2006/relationships/notesMaster" Target="/ppt/notesMasters/notesMaster1.xml" Id="Rc2cac49f1bd347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2b41b656d9426c" /><Relationship Type="http://schemas.openxmlformats.org/officeDocument/2006/relationships/notesMaster" Target="/ppt/notesMasters/notesMaster1.xml" Id="Re63182580b3f46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79aea3422742e3" /><Relationship Type="http://schemas.openxmlformats.org/officeDocument/2006/relationships/notesMaster" Target="/ppt/notesMasters/notesMaster1.xml" Id="R42e0af5174b045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cf60eeb1c64796" /><Relationship Type="http://schemas.openxmlformats.org/officeDocument/2006/relationships/notesMaster" Target="/ppt/notesMasters/notesMaster1.xml" Id="R1105d66570744c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155443cb244b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5772c25c9449c6" /><Relationship Type="http://schemas.openxmlformats.org/officeDocument/2006/relationships/slideLayout" Target="/ppt/slideLayouts/slideLayout1.xml" Id="R19b6650facfc4e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b6650facfc4e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f2932e0d74a2d" /><Relationship Type="http://schemas.openxmlformats.org/officeDocument/2006/relationships/image" Target="/ppt/media/image.png" Id="R06a7da133d874f14" /><Relationship Type="http://schemas.openxmlformats.org/officeDocument/2006/relationships/notesSlide" Target="/ppt/notesSlides/notesSlide1.xml" Id="Red81d41105fa40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3eaf3cdc14984" /><Relationship Type="http://schemas.openxmlformats.org/officeDocument/2006/relationships/notesSlide" Target="/ppt/notesSlides/notesSlide2.xml" Id="Rd2b354b9786e47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9d1c3c02a41ec" /><Relationship Type="http://schemas.openxmlformats.org/officeDocument/2006/relationships/notesSlide" Target="/ppt/notesSlides/notesSlide3.xml" Id="R0b7fe74c5b4e4a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b03e1f0c04b80" /><Relationship Type="http://schemas.openxmlformats.org/officeDocument/2006/relationships/notesSlide" Target="/ppt/notesSlides/notesSlide4.xml" Id="R8f1a70093b454c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e21688ae4473a" /><Relationship Type="http://schemas.openxmlformats.org/officeDocument/2006/relationships/notesSlide" Target="/ppt/notesSlides/notesSlide5.xml" Id="Rf898f13a034b4c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76419a89f4ac6" /><Relationship Type="http://schemas.openxmlformats.org/officeDocument/2006/relationships/notesSlide" Target="/ppt/notesSlides/notesSlide6.xml" Id="R09283ee889904d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5153dc5624f1a" /><Relationship Type="http://schemas.openxmlformats.org/officeDocument/2006/relationships/notesSlide" Target="/ppt/notesSlides/notesSlide7.xml" Id="Rd0b160c4a49247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158fd99034cd2" /><Relationship Type="http://schemas.openxmlformats.org/officeDocument/2006/relationships/notesSlide" Target="/ppt/notesSlides/notesSlide8.xml" Id="R97af4a9da98743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af772bf414ea0" /><Relationship Type="http://schemas.openxmlformats.org/officeDocument/2006/relationships/notesSlide" Target="/ppt/notesSlides/notesSlide9.xml" Id="R118949612c114f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a378eaffa495f" /><Relationship Type="http://schemas.openxmlformats.org/officeDocument/2006/relationships/notesSlide" Target="/ppt/notesSlides/notesSlide10.xml" Id="Rbc6987cf91a246d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95a6b52804663" /><Relationship Type="http://schemas.openxmlformats.org/officeDocument/2006/relationships/notesSlide" Target="/ppt/notesSlides/notesSlide11.xml" Id="Rcf3d03583c0044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b41dea42c4dd4" /><Relationship Type="http://schemas.openxmlformats.org/officeDocument/2006/relationships/notesSlide" Target="/ppt/notesSlides/notesSlide12.xml" Id="R4908d2a36b38404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DF7B1D-84DA-4DD5-9B66-BF5910D1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3"/>
          </a:solidFill>
          <a:ln xmlns:a="http://schemas.openxmlformats.org/drawingml/2006/main" w="0">
            <a:solidFill>
              <a:srgbClr val="17151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5645B-F030-4751-BB3C-70E51D75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549"/>
          </a:solidFill>
          <a:ln xmlns:a="http://schemas.openxmlformats.org/drawingml/2006/main" w="0">
            <a:solidFill>
              <a:srgbClr val="E2A54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CEE90-A3C9-476D-816F-14F45570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93B"/>
          </a:solidFill>
          <a:ln xmlns:a="http://schemas.openxmlformats.org/drawingml/2006/main" w="0">
            <a:solidFill>
              <a:srgbClr val="5A493B"/>
            </a:solidFill>
            <a:prstDash val="solid"/>
          </a:ln>
        </p:spPr>
      </p:sp>
      <p:sp>
        <p:nvSpPr>
          <p:cNvPr id="4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C8BF6034-B8D3-4FA8-9551-91424A1F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549"/>
          </a:solidFill>
          <a:ln xmlns:a="http://schemas.openxmlformats.org/drawingml/2006/main" w="0">
            <a:solidFill>
              <a:srgbClr val="E2A549"/>
            </a:solidFill>
            <a:prstDash val="solid"/>
          </a:ln>
        </p:spPr>
      </p:sp>
      <p:sp>
        <p:nvSpPr>
          <p:cNvPr id="5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B755C4DD-C954-4B7C-B76B-EEEE917C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F0C88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0C884"/>
                </a:solidFill>
                <a:latin typeface="Avenir Next"/>
                <a:ea typeface="Avenir Next"/>
                <a:cs typeface="Avenir Next"/>
              </a:rPr>
              <a:t>SEED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24BBE-4112-4393-BB23-97CD9F14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8382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BuildGuru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B1413-0708-47E4-A887-A03A3853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6477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The operating layer before Indian homes are built or renovated.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3BA97-B249-483B-81B0-E35762D4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619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7CEC4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7CEC4"/>
                </a:solidFill>
                <a:latin typeface="Avenir Next"/>
                <a:ea typeface="Avenir Next"/>
                <a:cs typeface="Avenir Next"/>
              </a:rPr>
              <a:t>Structured briefs, approval-grade estimates, scope lock, project room, and trusted professional workflows for the homeowners who still run high-stakes projects through chat.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ED018-A3C9-4051-B12B-AF6ED1BF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2A549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E2A549"/>
                </a:solidFill>
                <a:latin typeface="Georgia"/>
                <a:ea typeface="Georgia"/>
                <a:cs typeface="Georgia"/>
              </a:rPr>
              <a:t>Raising $4.5M-$6.0M seed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7B8664-4D88-4BCF-B322-2FC9D26F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533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D6C9BD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D6C9BD"/>
                </a:solidFill>
                <a:latin typeface="Avenir Next"/>
                <a:ea typeface="Avenir Next"/>
                <a:cs typeface="Avenir Next"/>
              </a:rPr>
              <a:t>18-24 months to paid clarity proof, city-one GTM, and the first execution-layer revenue lines.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0139E-9983-4FC4-8046-A8788006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81125"/>
            <a:ext cx="3143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19"/>
          </a:solidFill>
          <a:ln xmlns:a="http://schemas.openxmlformats.org/drawingml/2006/main" w="9525">
            <a:solidFill>
              <a:srgbClr val="4A40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620CF7-C5B0-4D3E-843B-C25B3E74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81125"/>
            <a:ext cx="47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549"/>
          </a:solidFill>
          <a:ln xmlns:a="http://schemas.openxmlformats.org/drawingml/2006/main" w="0">
            <a:solidFill>
              <a:srgbClr val="E2A5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0C91E2-51DE-461D-999F-31C25DC0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33525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$0.79T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DD01F5-6AD8-48BC-A396-52C68F38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28825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5D9C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E5D9CE"/>
                </a:solidFill>
                <a:latin typeface="Avenir Next"/>
                <a:ea typeface="Avenir Next"/>
                <a:cs typeface="Avenir Next"/>
              </a:rPr>
              <a:t>India construction market in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378517-66C5-4F24-8F5A-559B9016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09825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AFA49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FA49A"/>
                </a:solidFill>
                <a:latin typeface="Avenir Next"/>
                <a:ea typeface="Avenir Next"/>
                <a:cs typeface="Avenir Next"/>
              </a:rPr>
              <a:t>Mordor Intelligence, Jan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D8364C-C1D6-445A-8D49-37A0EFAE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3143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19"/>
          </a:solidFill>
          <a:ln xmlns:a="http://schemas.openxmlformats.org/drawingml/2006/main" w="9525">
            <a:solidFill>
              <a:srgbClr val="4A40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FA2B0F-AF9D-483D-9C0F-429DF64A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47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B49C"/>
          </a:solidFill>
          <a:ln xmlns:a="http://schemas.openxmlformats.org/drawingml/2006/main" w="0">
            <a:solidFill>
              <a:srgbClr val="6AB49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FD666-633F-4711-A0B2-C6BF324D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62275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&lt;1%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4D14D1-1F83-4810-BCE9-E6823D23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57575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5D9C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E5D9CE"/>
                </a:solidFill>
                <a:latin typeface="Avenir Next"/>
                <a:ea typeface="Avenir Next"/>
                <a:cs typeface="Avenir Next"/>
              </a:rPr>
              <a:t>online home services penetration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23824C-D9F6-4EE8-AD8D-C098F010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38575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AFA49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FA49A"/>
                </a:solidFill>
                <a:latin typeface="Avenir Next"/>
                <a:ea typeface="Avenir Next"/>
                <a:cs typeface="Avenir Next"/>
              </a:rPr>
              <a:t>Redseer / IBEF, FY25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34FD63-911E-4B76-ACD9-E5D41796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3143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19"/>
          </a:solidFill>
          <a:ln xmlns:a="http://schemas.openxmlformats.org/drawingml/2006/main" w="9525">
            <a:solidFill>
              <a:srgbClr val="4A403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81CF65-07B8-427C-AF99-CADD6CCC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47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3F2A0A-BFDA-4614-B9BB-116F2BF8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91025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$1.5B+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1FC081-B3A5-41D0-BF3D-88E2EADD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86325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5D9C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E5D9CE"/>
                </a:solidFill>
                <a:latin typeface="Avenir Next"/>
                <a:ea typeface="Avenir Next"/>
                <a:cs typeface="Avenir Next"/>
              </a:rPr>
              <a:t>credible coordination layer wedge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7CF53E-9685-4947-A97B-7E4E8223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67325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AFA49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FA49A"/>
                </a:solidFill>
                <a:latin typeface="Avenir Next"/>
                <a:ea typeface="Avenir Next"/>
                <a:cs typeface="Avenir Next"/>
              </a:rPr>
              <a:t>Internal Design Compass model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A55F19-9BEC-44C1-A5B7-48A10302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A99C90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99C90"/>
                </a:solidFill>
                <a:latin typeface="Avenir Next"/>
                <a:ea typeface="Avenir Next"/>
                <a:cs typeface="Avenir Next"/>
              </a:rPr>
              <a:t>Sources: Mordor Intelligence 2026; Redseer via IBEF 2025; internal Design Compass model.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8C9FA0-4976-47C6-84DE-B28D0BA2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E2A54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E2A549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7da133d874f14"/>
          <a:stretch xmlns:a="http://schemas.openxmlformats.org/drawingml/2006/main"/>
        </p:blipFill>
        <p:spPr>
          <a:xfrm xmlns:a="http://schemas.openxmlformats.org/drawingml/2006/main">
            <a:off x="666750" y="784860"/>
            <a:ext cx="533400" cy="3733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73443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02A058-AE61-458F-A272-3D839BBC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9"/>
          </a:solidFill>
          <a:ln xmlns:a="http://schemas.openxmlformats.org/drawingml/2006/main" w="0">
            <a:solidFill>
              <a:srgbClr val="F7F1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60183-3048-4296-89CA-DED165C9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5B7D1-FE99-47B6-A50A-B115F7DF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5A01D-29DC-42A7-8647-666E0A38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6C7"/>
          </a:solidFill>
          <a:ln xmlns:a="http://schemas.openxmlformats.org/drawingml/2006/main" w="0">
            <a:solidFill>
              <a:srgbClr val="E6D6C7"/>
            </a:solidFill>
            <a:prstDash val="solid"/>
          </a:ln>
        </p:spPr>
      </p:sp>
      <p:sp>
        <p:nvSpPr>
          <p:cNvPr id="5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3072C1C1-0947-45AB-B6EC-6473A37F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6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1C3AD37C-AD37-4D86-BBA6-83E3F3A1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STATUS QUO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11FC7-530E-408E-B2DF-17721963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The default path is still WhatsApp, vague quotes, and cash advances.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0B8EFC-BC13-4E53-BF42-8AB595E9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The pain is not inspiration scarcity. It is the absence of a shared truth before work starts.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4A502-1FA0-4EBC-968B-774786B7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05125"/>
            <a:ext cx="885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D338F-0BA1-4F91-AFF2-9C041605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3B503A-A28F-4CE1-AC8D-32B9776F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81375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Ask friends for contacts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E7880-84BF-405F-AFE5-ADEB1213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6479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53ACB-B5FA-4C57-B91D-2F579C32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381375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Contractor says: come and see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E887F-9F97-45C7-A455-FF1180E8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479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6A5966-D1D5-42AD-8211-5562A0A1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81375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Verbal scope and loose quote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623643-C8CB-4990-97BA-1B1E7957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6479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67051F-AE56-4A4A-80C0-875DC0BC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381375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Advance paid before clarity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ED1C71-853C-46FD-BAA2-4E5B1B2F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479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9525">
            <a:solidFill>
              <a:srgbClr val="C65D2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DF9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FFFDF9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2B9717-64B5-4355-BEC5-2E9B583E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81375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Daily scope changes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7CC567-FE81-4914-AC57-2CAE0A62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6479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9525">
            <a:solidFill>
              <a:srgbClr val="C65D2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DF9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FFFDF9"/>
                </a:solidFill>
                <a:latin typeface="Menlo"/>
                <a:ea typeface="Menlo"/>
                <a:cs typeface="Menlo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040EAA-C82C-4B51-B4A8-D542C38C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81375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Budget fights and delays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607AE1-3366-4169-AA34-728D8FD5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479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9525">
            <a:solidFill>
              <a:srgbClr val="C65D2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DF9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FFFDF9"/>
                </a:solidFill>
                <a:latin typeface="Menlo"/>
                <a:ea typeface="Menlo"/>
                <a:cs typeface="Menlo"/>
              </a:rPr>
              <a:t>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9A06FA-1010-459B-9D1A-1F13E845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81375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Never doing this again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411FBA-0384-4C83-A3A4-92551A3B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71950"/>
            <a:ext cx="3619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3D5"/>
          </a:solidFill>
          <a:ln xmlns:a="http://schemas.openxmlformats.org/drawingml/2006/main" w="9525">
            <a:solidFill>
              <a:srgbClr val="D9C6B5"/>
            </a:solidFill>
            <a:prstDash val="solid"/>
          </a:ln>
        </p:spPr>
        <p:txBody>
          <a:bodyPr xmlns:a="http://schemas.openxmlformats.org/drawingml/2006/main" lIns="209550" tIns="190500" rIns="209550" bIns="17145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What </a:t>
            </a:r>
            <a:r>
              <a: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BuildGuru</a:t>
            </a:r>
            <a:r>
              <a: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 replaces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Clear estimate -&gt; locked scope -&gt; visible milestones -&gt; project room with documents, team, and budget.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696CC1-2DD8-4381-877C-3228E90E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Real competitor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AB9DA0-608A-4B58-B767-FE35AADD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B34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3B34"/>
                </a:solidFill>
                <a:latin typeface="Georgia"/>
                <a:ea typeface="Georgia"/>
                <a:cs typeface="Georgia"/>
              </a:rPr>
              <a:t>Informal process, not only apps.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43A78D-4C75-407B-ACB4-30EBD506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Source: docs/INVESTOR_PITCH.md; Design Compass business implementation plan.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9825A9-4D46-4F83-9578-983A142D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136904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976D2F-9851-4533-8851-DB93C953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9"/>
          </a:solidFill>
          <a:ln xmlns:a="http://schemas.openxmlformats.org/drawingml/2006/main" w="0">
            <a:solidFill>
              <a:srgbClr val="F7F1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B5C94-D3CA-41E6-8AA9-2F65ABBC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6071A-602B-48B2-A5C1-74AA1A1A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6CA15-0603-47A5-9EBF-9543E326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6C7"/>
          </a:solidFill>
          <a:ln xmlns:a="http://schemas.openxmlformats.org/drawingml/2006/main" w="0">
            <a:solidFill>
              <a:srgbClr val="E6D6C7"/>
            </a:solidFill>
            <a:prstDash val="solid"/>
          </a:ln>
        </p:spPr>
      </p:sp>
      <p:sp>
        <p:nvSpPr>
          <p:cNvPr id="5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5FBC7DA3-247E-46DA-9DB4-E4FB681A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6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31FFA091-BB2C-4618-A751-22477863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WEDGE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788A3-04C9-4BD4-8432-57364558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We are not chasing managed-interior buyers; we serve the control-seeking long 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B755D-5DEF-4E68-BB30-87235FE5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Market split by job-to-be-done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C078B9-11E7-441A-AACE-E2251C9C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3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5-10%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B5EB3-47EE-4A02-ADC5-799C08F5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955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fully managed interior buyer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90CBA-CF86-4DEE-92E5-D9F7F9E8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5621B-2960-4DF7-A774-D6D5FA88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61AFF2-ECDB-4EDB-94C9-F50D3FE2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73B34"/>
                </a:solidFill>
                <a:latin typeface="Georgia"/>
                <a:ea typeface="Georgia"/>
                <a:cs typeface="Georgia"/>
              </a:defRPr>
            </a:pPr>
            <a:r>
              <a:rPr sz="2925" b="1">
                <a:solidFill>
                  <a:srgbClr val="173B34"/>
                </a:solidFill>
                <a:latin typeface="Georgia"/>
                <a:ea typeface="Georgia"/>
                <a:cs typeface="Georgia"/>
              </a:rPr>
              <a:t>82-90%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DB14D9-2840-4160-95FE-CBE8B94D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480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independent architects, contractors, and local builders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1BCBF9-7E51-4E19-9BB4-91ABB1CE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2B5DDD-BD8E-4555-9611-F42A90D8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190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B5B"/>
          </a:solidFill>
          <a:ln xmlns:a="http://schemas.openxmlformats.org/drawingml/2006/main" w="0">
            <a:solidFill>
              <a:srgbClr val="226B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AE6FD2-1561-4818-B96D-CD040087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145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Launch ICP table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79D13B-C8AF-4B05-9DCD-F8CBCFB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194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4C6444-4D1A-446C-9CBB-642F9DE1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336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Young couple renovating 2BHK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CD84A6-F91C-4280-BC3E-BC847DD5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26B5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26B5B"/>
                </a:solidFill>
                <a:latin typeface="Avenir Next"/>
                <a:ea typeface="Avenir Next"/>
                <a:cs typeface="Avenir Next"/>
              </a:rPr>
              <a:t>INR 10-30L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817454-E88F-4848-89A9-D30B8BAD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466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No contacts, no cost clarity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99F02A-EF58-477A-8109-64385307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195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C71416-285C-4A0C-840E-61CF41BB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337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Family building independent house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D76914-BE35-4BE4-B4E5-425B310F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337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26B5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26B5B"/>
                </a:solidFill>
                <a:latin typeface="Avenir Next"/>
                <a:ea typeface="Avenir Next"/>
                <a:cs typeface="Avenir Next"/>
              </a:rPr>
              <a:t>INR 30L-1.5Cr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2A6D1F-6C85-4891-A5C3-353449D7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71850"/>
            <a:ext cx="466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Scope creep and documentation gaps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05E2E6-64A8-4826-A1E4-14CBA8F2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195F36-F020-4CB9-B4A6-F2B682E9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338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NRI renovating remotely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F127C2-5EAA-4730-946E-86364F49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338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26B5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26B5B"/>
                </a:solidFill>
                <a:latin typeface="Avenir Next"/>
                <a:ea typeface="Avenir Next"/>
                <a:cs typeface="Avenir Next"/>
              </a:rPr>
              <a:t>INR 15-50L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4403EC-1F43-41A3-B572-E986BB09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71950"/>
            <a:ext cx="466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Visibility, trust, and payment anxiety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117A27-8DDD-4EFC-8310-1081109E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197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66F6EE-DFF2-4FB7-9D93-9306C0DB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339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Kitchen / room upgrade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697CED-FA2A-4C78-A85D-8012018F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339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26B5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26B5B"/>
                </a:solidFill>
                <a:latin typeface="Avenir Next"/>
                <a:ea typeface="Avenir Next"/>
                <a:cs typeface="Avenir Next"/>
              </a:rPr>
              <a:t>INR 5-15L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58AB7B-5931-4639-8360-8E3D9AC5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72050"/>
            <a:ext cx="466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Unclear inclusions and comparisons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FAEDEA-0213-49B6-BE3D-A18098C0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Source: Design Compass target customer section; </a:t>
            </a: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buildguru</a:t>
            </a: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-1 investor pitch.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581355-4ABC-4080-93FB-2BA835FE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089777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C9C09C-7C71-47FF-B924-41EE3602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9"/>
          </a:solidFill>
          <a:ln xmlns:a="http://schemas.openxmlformats.org/drawingml/2006/main" w="0">
            <a:solidFill>
              <a:srgbClr val="F7F1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B7573-7137-425C-9614-3499146A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9BE88-6F78-4133-9923-08AD9AF4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C0E9D-E4CC-4651-B17D-53DB122E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6C7"/>
          </a:solidFill>
          <a:ln xmlns:a="http://schemas.openxmlformats.org/drawingml/2006/main" w="0">
            <a:solidFill>
              <a:srgbClr val="E6D6C7"/>
            </a:solidFill>
            <a:prstDash val="solid"/>
          </a:ln>
        </p:spPr>
      </p:sp>
      <p:sp>
        <p:nvSpPr>
          <p:cNvPr id="5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7943153C-122C-4BC8-83BC-BCC6C4A2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6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2C28DD30-349B-4239-B61C-C5F2CF25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WHY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74B85-5433-463F-9B54-E84BE1B9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A huge construction market is moving online from a tiny base.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AE7DE-A9F4-4708-AF06-68936325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952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6B7"/>
          </a:solidFill>
          <a:ln xmlns:a="http://schemas.openxmlformats.org/drawingml/2006/main" w="0">
            <a:solidFill>
              <a:srgbClr val="D4C6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5542F-DFD4-4DA8-BE7C-A9C9AEF1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2838883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B5B"/>
          </a:solidFill>
          <a:ln xmlns:a="http://schemas.openxmlformats.org/drawingml/2006/main" w="0">
            <a:solidFill>
              <a:srgbClr val="226B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3F347-F289-4D72-891F-C1FD96EA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284607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India construction market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0C103C-1FE4-4B10-AA17-2C96129D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333" y="2466975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$0.79T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2DCF7-173C-4FFA-BA43-734B3538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333" y="28098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198FF-5A0E-45E4-AC9E-DB9B4D5A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3952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6B7"/>
          </a:solidFill>
          <a:ln xmlns:a="http://schemas.openxmlformats.org/drawingml/2006/main" w="0">
            <a:solidFill>
              <a:srgbClr val="D4C6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EFF70B-A9EF-4B94-9413-26EA7289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3952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AE3A8D-FB46-4EBF-8307-4DCF13CE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284607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Projected market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D4F754-344A-462C-A24F-9254BB5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705225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$1.10T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1B8E68-744C-47F9-9500-66392EC4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0481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2031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8FBF0A-A293-4250-B1CD-B8A40B97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6.87% CAGR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F6C158-9E6D-432D-9309-CC5BFAFB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577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2026-2031 construction market forecast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6187A2-0E7C-4EA5-93FC-F2D8D52B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21431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D5CD71-F9D5-4502-805C-01FE9C33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B5B"/>
          </a:solidFill>
          <a:ln xmlns:a="http://schemas.openxmlformats.org/drawingml/2006/main" w="0">
            <a:solidFill>
              <a:srgbClr val="226B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40DCFB-0A72-4211-85FA-4A5831F8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28800"/>
            <a:ext cx="1724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44.68%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FDF88D-07F4-4FC8-A6DA-4799FBB9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1685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31F1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231F1B"/>
                </a:solidFill>
                <a:latin typeface="Avenir Next"/>
                <a:ea typeface="Avenir Next"/>
                <a:cs typeface="Avenir Next"/>
              </a:rPr>
              <a:t>residential share of India construction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08B390-4E23-48A9-A186-D88FD53C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47950"/>
            <a:ext cx="16859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2025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21DD35-69FB-4E65-88E4-021A2497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76400"/>
            <a:ext cx="21431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475E1A-A85B-4A20-80FF-4C237B3E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764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79D1D4-FE2A-4FB9-8D91-A10F4DA5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28800"/>
            <a:ext cx="1724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7.96%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A55877-A631-4E75-B4F5-EB87615B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24100"/>
            <a:ext cx="1685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31F1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231F1B"/>
                </a:solidFill>
                <a:latin typeface="Avenir Next"/>
                <a:ea typeface="Avenir Next"/>
                <a:cs typeface="Avenir Next"/>
              </a:rPr>
              <a:t>renovation CAGR to 2031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55ADB5-593B-45ED-9932-1CBF0AD5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47950"/>
            <a:ext cx="16859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fastest-growing sub-segment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2C0E73-0A51-4014-A3BB-FF460AEC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1431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BBC6A3-1B6C-433A-95C1-27D70247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73"/>
          </a:solidFill>
          <a:ln xmlns:a="http://schemas.openxmlformats.org/drawingml/2006/main" w="0">
            <a:solidFill>
              <a:srgbClr val="2B5C7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0D5D2D-D54A-4C97-B1CF-511A6E66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71850"/>
            <a:ext cx="1724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&lt;1%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4CF40B-1822-498B-A974-1DDE7B88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67150"/>
            <a:ext cx="1685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31F1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231F1B"/>
                </a:solidFill>
                <a:latin typeface="Avenir Next"/>
                <a:ea typeface="Avenir Next"/>
                <a:cs typeface="Avenir Next"/>
              </a:rPr>
              <a:t>online home services NTV penetration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3E2E8B-5A4F-46FB-AE63-4DA72E69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91000"/>
            <a:ext cx="16859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FY25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7C9B63-B1E0-4D13-9FCC-8DA04238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19450"/>
            <a:ext cx="21431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EBD1E8-F685-4482-96F8-24C7809F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194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549"/>
          </a:solidFill>
          <a:ln xmlns:a="http://schemas.openxmlformats.org/drawingml/2006/main" w="0">
            <a:solidFill>
              <a:srgbClr val="E2A54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FC140C-65C8-42D1-A84F-EF1DA1E4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71850"/>
            <a:ext cx="1724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18-22%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FC8FFC-9360-4CCA-BCAA-13E5D873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67150"/>
            <a:ext cx="1685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31F1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231F1B"/>
                </a:solidFill>
                <a:latin typeface="Avenir Next"/>
                <a:ea typeface="Avenir Next"/>
                <a:cs typeface="Avenir Next"/>
              </a:rPr>
              <a:t>online home services CAGR to FY30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F56279-905D-4C95-8235-10FF56BC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91000"/>
            <a:ext cx="16859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Redseer / IBEF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06BC43-1F61-4E7B-8829-7EEEE7A7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57750"/>
            <a:ext cx="4381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3B34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73B34"/>
                </a:solidFill>
                <a:latin typeface="Georgia"/>
                <a:ea typeface="Georgia"/>
                <a:cs typeface="Georgia"/>
              </a:rPr>
              <a:t>BuildGuru</a:t>
            </a:r>
            <a:r>
              <a:rPr sz="1200" b="1">
                <a:solidFill>
                  <a:srgbClr val="173B34"/>
                </a:solidFill>
                <a:latin typeface="Georgia"/>
                <a:ea typeface="Georgia"/>
                <a:cs typeface="Georgia"/>
              </a:rPr>
              <a:t> enters where digitization is still early: before homeowners select a pro, approve scope, or put money at risk.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9BBE73-7A10-433A-95EB-DAAB4DD7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Sources: Mordor Intelligence India Construction Market, Jan 2026; Redseer Strategy Consultants via IBEF, FY25.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10316B-2C3F-4C6F-B90E-32D69EA3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616201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3A6C11-3759-4FE8-8D6C-C7D5E01E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9"/>
          </a:solidFill>
          <a:ln xmlns:a="http://schemas.openxmlformats.org/drawingml/2006/main" w="0">
            <a:solidFill>
              <a:srgbClr val="F7F1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3580C-87AF-44A9-9CB8-333EDED7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A22FC-A0CF-4BA3-8FE8-624C263C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33E44-8A21-41FE-A52A-0ABDB46F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6C7"/>
          </a:solidFill>
          <a:ln xmlns:a="http://schemas.openxmlformats.org/drawingml/2006/main" w="0">
            <a:solidFill>
              <a:srgbClr val="E6D6C7"/>
            </a:solidFill>
            <a:prstDash val="solid"/>
          </a:ln>
        </p:spPr>
      </p:sp>
      <p:sp>
        <p:nvSpPr>
          <p:cNvPr id="5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E4DFF228-A9C4-4E94-93AA-DE06C5FB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6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C184D4B2-DF1D-4281-B07F-09376980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PRODUCT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A818F-CBB9-4516-BC35-1475D40A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BuildGuru</a:t>
            </a:r>
            <a:r>
              <a:rPr sz="262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 converts first intent into a project graph everyone can trust.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C8BBA-00D3-4A93-A63A-6FF5EBC5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61925" tIns="142875" rIns="142875" bIns="13335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1. Brief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rooms, plot, Vastu, style, budget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C1F47-A9C8-4B32-9E15-F0FDE9D7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DD8C7-8E8E-4539-8A55-CE3E3D1C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28900"/>
            <a:ext cx="295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2355B-AA2C-4ACF-87CC-CB319A4B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1145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61925" tIns="142875" rIns="142875" bIns="13335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2. Estimate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quantities, ranges, assumptions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9B95D-2228-46EE-A2F9-A6DFFF6C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1145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26E0F-090A-47B7-A662-52153C65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28900"/>
            <a:ext cx="295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B2F5F2-23B4-4C7F-A5A5-1EDF7769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EA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61925" tIns="142875" rIns="142875" bIns="13335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3. Scope lock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in / out, approvals, change log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00E6D-8B27-41C4-816A-16474D56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B5B"/>
          </a:solidFill>
          <a:ln xmlns:a="http://schemas.openxmlformats.org/drawingml/2006/main" w="0">
            <a:solidFill>
              <a:srgbClr val="226B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6A76C4-D9CB-411B-A54C-81D37B23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28900"/>
            <a:ext cx="295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C5AB2B-5FD0-4FFC-A095-D3F4FB57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145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61925" tIns="142875" rIns="142875" bIns="13335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4. Project room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tasks, docs, team, budget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047B97-CC05-4430-82E1-46271791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145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2D1CED-A3A0-467A-813A-4A1BD7E8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28900"/>
            <a:ext cx="295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5A9215-0E88-411F-B066-8108D7B2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145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61925" tIns="142875" rIns="142875" bIns="13335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5. Execution layer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RFQ, payments, pro reputation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A1DDB9-3933-4D56-92F0-27762B87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145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E7EF8B-62F1-4F62-9298-385AE8B8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3B34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3B34"/>
                </a:solidFill>
                <a:latin typeface="Georgia"/>
                <a:ea typeface="Georgia"/>
                <a:cs typeface="Georgia"/>
              </a:rPr>
              <a:t>Project graph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41D481-6874-458A-8D46-C3FF5B81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10025"/>
            <a:ext cx="704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B5B"/>
          </a:solidFill>
          <a:ln xmlns:a="http://schemas.openxmlformats.org/drawingml/2006/main" w="0">
            <a:solidFill>
              <a:srgbClr val="226B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D63AF7-BBFE-4BD8-8FC3-7B3B9666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005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rooms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871055-D0D9-4DE5-A347-4C6E14F4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005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quantities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4C0938-7A44-4821-88E5-FF153955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4005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budget lines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FDF473-88A0-4E73-9390-E1DF95BE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005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documents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4AF6A6-0AEF-4A9B-90D7-0DC9F70E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149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people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2930C3-A6B9-41C6-ADC4-8D49D950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149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tasks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611D2E-1E52-46F3-92D4-59FF267B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9149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approvals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FA3A66-705B-429C-914F-DB4F29E2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9149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payments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452740-F8E8-4869-BA25-8AABA6F8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Sources: repo product flows; docs/PROJECT_MANAGEMENT_ROADMAP.md; memory/PRD.md.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2D2052-CA2D-48AA-A321-4F8DE710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689879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E2F794-6757-48CF-93EE-AF1A28AF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9"/>
          </a:solidFill>
          <a:ln xmlns:a="http://schemas.openxmlformats.org/drawingml/2006/main" w="0">
            <a:solidFill>
              <a:srgbClr val="F7F1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2DD09-BFC4-4FA8-BFDC-7452DAB2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AA067-DC2A-4B75-81ED-F08CBD1D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2B47D-6596-4137-933E-175FC21B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6C7"/>
          </a:solidFill>
          <a:ln xmlns:a="http://schemas.openxmlformats.org/drawingml/2006/main" w="0">
            <a:solidFill>
              <a:srgbClr val="E6D6C7"/>
            </a:solidFill>
            <a:prstDash val="solid"/>
          </a:ln>
        </p:spPr>
      </p:sp>
      <p:sp>
        <p:nvSpPr>
          <p:cNvPr id="5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161FAE11-9014-465E-9887-FB15A405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6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8497411F-6DBD-4E7E-A464-E4D01686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MONETIZATION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8A235-30BD-4990-9740-6E2B9BEB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The wedge monetizes clarity first, then earns expansion from execution.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55A09-86EC-4F73-B280-74538AA3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9051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  <p:txBody>
          <a:bodyPr xmlns:a="http://schemas.openxmlformats.org/drawingml/2006/main" lIns="190500" tIns="152400" rIns="171450" bIns="11430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Stage 1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Paid clarity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A3305-D468-4963-89AD-D1FA80A4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29051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90500" tIns="171450" rIns="171450" bIns="1524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AI design visualization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Estimation report: INR 499-1,999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Consensus lock: INR 2,999-9,999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Bundle: INR 4,999/project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8D2E1-8BE9-45DB-923F-77A2D4A9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576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9FAA3-1F7D-4DBE-9908-B78CDEF6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809750"/>
            <a:ext cx="29051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B5B"/>
          </a:solidFill>
          <a:ln xmlns:a="http://schemas.openxmlformats.org/drawingml/2006/main" w="0">
            <a:solidFill>
              <a:srgbClr val="226B5B"/>
            </a:solidFill>
            <a:prstDash val="solid"/>
          </a:ln>
        </p:spPr>
        <p:txBody>
          <a:bodyPr xmlns:a="http://schemas.openxmlformats.org/drawingml/2006/main" lIns="190500" tIns="152400" rIns="171450" bIns="11430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Stage 2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Project OS + marketplace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AA956-F388-4169-B88A-F929705B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52750"/>
            <a:ext cx="29051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90500" tIns="171450" rIns="171450" bIns="1524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Pro matching: 5-10% commission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Project SaaS: INR 999/mo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Milestone payments: 2-3% fee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Priority listing for pros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44EA7-1AC1-4574-AE8C-408311F9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6576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B6D20F-ACCF-4C4C-9844-F2907B5C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09750"/>
            <a:ext cx="29051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73"/>
          </a:solidFill>
          <a:ln xmlns:a="http://schemas.openxmlformats.org/drawingml/2006/main" w="0">
            <a:solidFill>
              <a:srgbClr val="2B5C73"/>
            </a:solidFill>
            <a:prstDash val="solid"/>
          </a:ln>
        </p:spPr>
        <p:txBody>
          <a:bodyPr xmlns:a="http://schemas.openxmlformats.org/drawingml/2006/main" lIns="190500" tIns="152400" rIns="171450" bIns="11430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Stage 3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Ecosystem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D1A2F-D132-431D-B217-B5549840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52750"/>
            <a:ext cx="29051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90500" tIns="171450" rIns="171450" bIns="1524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Pro dashboard subscriptions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Materials order commission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Embedded finance partnerships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Community and promoted content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9E4C7E-F1E0-4A3A-80CE-7803D44A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Discipline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9E75D5-4C9A-4E75-B6EB-A1AEAE68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14900"/>
            <a:ext cx="647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B34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73B34"/>
                </a:solidFill>
                <a:latin typeface="Georgia"/>
                <a:ea typeface="Georgia"/>
                <a:cs typeface="Georgia"/>
              </a:rPr>
              <a:t>Do not overbuild marketplace until paid clarity proves willingness to pay.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D6053B-14EF-499D-9933-3B517B05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Source: Design Compass three-stage revenue model and pricing assumptions.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3A72E8-9D20-47C0-AA39-053D7C21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1917563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588D14-F001-47B1-B9D1-FFC5FE05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9"/>
          </a:solidFill>
          <a:ln xmlns:a="http://schemas.openxmlformats.org/drawingml/2006/main" w="0">
            <a:solidFill>
              <a:srgbClr val="F7F1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10814-AB9F-4522-956A-EA9FF11F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E71E2-2FBA-4914-8B6D-FD3B59BD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A7729-22DA-4484-B70F-956B59B7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6C7"/>
          </a:solidFill>
          <a:ln xmlns:a="http://schemas.openxmlformats.org/drawingml/2006/main" w="0">
            <a:solidFill>
              <a:srgbClr val="E6D6C7"/>
            </a:solidFill>
            <a:prstDash val="solid"/>
          </a:ln>
        </p:spPr>
      </p:sp>
      <p:sp>
        <p:nvSpPr>
          <p:cNvPr id="5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17DC6546-3B32-4050-8477-59955ECF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6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E327DE77-A030-4D5C-BB20-C994478C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MOAT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1FC80A-8480-474A-B2FE-0CDD46B4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Each project improves the next estimate before competitors see the job.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B507A-8E96-4104-9DBE-1FACDFF9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4790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4"/>
          </a:solidFill>
          <a:ln xmlns:a="http://schemas.openxmlformats.org/drawingml/2006/main" w="0">
            <a:solidFill>
              <a:srgbClr val="173B3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Approval-grade project graph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FDA4D-E90D-49FC-95DA-4BE3DAA1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71450" tIns="142875" rIns="142875" bIns="13335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Projects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real scope +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A406A-D007-439B-8C41-7C6D2525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F4DF13-C9BC-40C3-81E5-B64C29E8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052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71450" tIns="142875" rIns="142875" bIns="13335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Cost benchmarks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city, room, finish, labor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8430A-E7C8-49DE-907A-CC709B1A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05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B5B"/>
          </a:solidFill>
          <a:ln xmlns:a="http://schemas.openxmlformats.org/drawingml/2006/main" w="0">
            <a:solidFill>
              <a:srgbClr val="226B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C67CB1-D1C5-43C7-BBA3-B3DC1711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9100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71450" tIns="142875" rIns="142875" bIns="13335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Trust layer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approval, changes, payments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1B799-5B5A-4EDF-B095-13755679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910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73"/>
          </a:solidFill>
          <a:ln xmlns:a="http://schemas.openxmlformats.org/drawingml/2006/main" w="0">
            <a:solidFill>
              <a:srgbClr val="2B5C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E7A32-255B-4A9A-8EFD-E9980C4B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052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71450" tIns="142875" rIns="142875" bIns="13335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Pro supply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performance and response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169078-5877-4C6E-8DEE-A79F8EFC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05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549"/>
          </a:solidFill>
          <a:ln xmlns:a="http://schemas.openxmlformats.org/drawingml/2006/main" w="0">
            <a:solidFill>
              <a:srgbClr val="E2A54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27D56A-ACBC-4AFB-8B45-39458672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71450" tIns="142875" rIns="142875" bIns="13335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Better matching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fit by budget, city, job 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BAC925-FBF3-4E88-95DD-64A16144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B5B"/>
          </a:solidFill>
          <a:ln xmlns:a="http://schemas.openxmlformats.org/drawingml/2006/main" w="0">
            <a:solidFill>
              <a:srgbClr val="226B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20C8CC-9ECA-4368-A493-7D5B26A4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622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824F3A-44A9-4A3B-A81F-D64F6BEB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F672D-0F6E-4C79-AAA0-8EE0754A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790825"/>
            <a:ext cx="2857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18C116-33AF-492E-930C-582155C7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90825"/>
            <a:ext cx="2857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015057-59EE-43E5-8DF4-BB8B402F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30530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CE7ECF-CCC9-4BC9-9CF8-2F111C5E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3053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4BF937-1FF8-40BA-B53B-6CE7613E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Why it compounds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F26900-22EA-46EB-B147-DBBC5C08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340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B34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73B34"/>
                </a:solidFill>
                <a:latin typeface="Georgia"/>
                <a:ea typeface="Georgia"/>
                <a:cs typeface="Georgia"/>
              </a:rPr>
              <a:t>BuildGuru</a:t>
            </a:r>
            <a:r>
              <a:rPr sz="1650" b="1">
                <a:solidFill>
                  <a:srgbClr val="173B34"/>
                </a:solidFill>
                <a:latin typeface="Georgia"/>
                <a:ea typeface="Georgia"/>
                <a:cs typeface="Georgia"/>
              </a:rPr>
              <a:t> captures decisions before execution, so the dataset starts where cost, scope, and trust are still negotiable.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57D964-CB78-4F6C-8AB0-25686F4F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Sources: Design Compass moat section; product roadmap; internal architecture synthesis.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7842C2-43E6-4902-A884-9D26E8ED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5794545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F469F2-7A17-4E6A-82D6-73866E8A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9"/>
          </a:solidFill>
          <a:ln xmlns:a="http://schemas.openxmlformats.org/drawingml/2006/main" w="0">
            <a:solidFill>
              <a:srgbClr val="F7F1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A0EAC-706E-47B5-A100-28219F87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83278-5428-4D96-9503-CBB601B5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B8D543-2E0D-46A0-A433-3A2B7878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6C7"/>
          </a:solidFill>
          <a:ln xmlns:a="http://schemas.openxmlformats.org/drawingml/2006/main" w="0">
            <a:solidFill>
              <a:srgbClr val="E6D6C7"/>
            </a:solidFill>
            <a:prstDash val="solid"/>
          </a:ln>
        </p:spPr>
      </p:sp>
      <p:sp>
        <p:nvSpPr>
          <p:cNvPr id="5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031D2590-D55D-4C69-94D2-F86E789F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6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A67DB3E8-9D90-4A00-A1E8-F7896CD5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GTM WEDGE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D437C-3F2C-4B8D-9B74-083B6A24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City-one GTM starts at new apartment handovers, where pain and density collide.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BFC91-3AEA-4CC4-B567-37912568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Launch target funnel, not claimed traction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1282E-858A-4BEE-8F64-A4C22BBC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4"/>
          </a:solidFill>
          <a:ln xmlns:a="http://schemas.openxmlformats.org/drawingml/2006/main" w="0">
            <a:solidFill>
              <a:srgbClr val="173B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BA886-2801-4D6C-8595-673E4829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81225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1,000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2265D-9BB7-4DB7-B2E9-70A109E8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38375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DF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DF9"/>
                </a:solidFill>
                <a:latin typeface="Avenir Next"/>
                <a:ea typeface="Avenir Next"/>
                <a:cs typeface="Avenir Next"/>
              </a:rPr>
              <a:t>handover households reached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E00DF-95BE-47C7-BAE5-9CDCBF8A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B5B"/>
          </a:solidFill>
          <a:ln xmlns:a="http://schemas.openxmlformats.org/drawingml/2006/main" w="0">
            <a:solidFill>
              <a:srgbClr val="226B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614E8D-4877-456C-B9CE-1118D170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28925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250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B53F3-D915-4C4C-A3C6-53ADC63C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860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DF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DF9"/>
                </a:solidFill>
                <a:latin typeface="Avenir Next"/>
                <a:ea typeface="Avenir Next"/>
                <a:cs typeface="Avenir Next"/>
              </a:rPr>
              <a:t>brief starts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E681F-E447-48E5-989B-85767F8C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38525"/>
            <a:ext cx="304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54C861-C94F-4FB5-911D-6CD84247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961C23-5867-4CAA-BC7E-CAE975A2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3377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DF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DF9"/>
                </a:solidFill>
                <a:latin typeface="Avenir Next"/>
                <a:ea typeface="Avenir Next"/>
                <a:cs typeface="Avenir Next"/>
              </a:rPr>
              <a:t>paid / qualified estimates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7FE6E7-CB59-409F-857D-AED16D30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86225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549"/>
          </a:solidFill>
          <a:ln xmlns:a="http://schemas.openxmlformats.org/drawingml/2006/main" w="0">
            <a:solidFill>
              <a:srgbClr val="E2A54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096996-D868-4669-9148-9CA773A4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24325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40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B1BEB5-2760-414D-8B77-2FBB368C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814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scope locks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3A5906-18EC-4857-A398-E8D41770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33925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73"/>
          </a:solidFill>
          <a:ln xmlns:a="http://schemas.openxmlformats.org/drawingml/2006/main" w="0">
            <a:solidFill>
              <a:srgbClr val="2B5C7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536BD9-FC2D-4ABF-B62A-1BFE80FD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72025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48630E-1A41-4F6D-8594-1D12323E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291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pro / RFQ conversions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176B36-E70E-4264-B288-2C00B440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954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Why this is measurable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46C395-35C5-48C4-B1BD-E9DA130D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5265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52400" tIns="114300" rIns="133350" bIns="11430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Society WhatsApp groups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zero-friction local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C01386-CA68-4AAF-8A38-6A8E43F2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7655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52400" tIns="114300" rIns="133350" bIns="11430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Builder handover partnerships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renovation intent at key pickup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4A1F0C-CB4B-476F-BFB6-5020DFA7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0045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52400" tIns="114300" rIns="133350" bIns="11430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Cost-breakdown content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Instagram, YouTube, Google intent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8A10B8-8251-462E-9D35-64135479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2435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52400" tIns="114300" rIns="133350" bIns="11430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Architect / contractor partners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supply before marketplace scale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55031F-8D83-46E4-A5F7-A3A72233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482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B34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173B34"/>
                </a:solidFill>
                <a:latin typeface="Georgia"/>
                <a:ea typeface="Georgia"/>
                <a:cs typeface="Georgia"/>
              </a:rPr>
              <a:t>Initial city: Bangalore or Hyderabad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77D0C7-15F1-4401-8ED9-0BA07131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Source: Design Compass GTM strategy; apartment share and online demand concentration from market research.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A38BC5-0EEB-4203-B86B-DEEEA741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4134164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F1C9E6-47A1-4E05-BB43-356429AE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9"/>
          </a:solidFill>
          <a:ln xmlns:a="http://schemas.openxmlformats.org/drawingml/2006/main" w="0">
            <a:solidFill>
              <a:srgbClr val="F7F1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3B1A9-1FED-4036-9152-56B689F9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E9991-E1EF-4521-9126-26990A23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8230B-CD2B-4C5E-A163-BA5BFC79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6C7"/>
          </a:solidFill>
          <a:ln xmlns:a="http://schemas.openxmlformats.org/drawingml/2006/main" w="0">
            <a:solidFill>
              <a:srgbClr val="E6D6C7"/>
            </a:solidFill>
            <a:prstDash val="solid"/>
          </a:ln>
        </p:spPr>
      </p:sp>
      <p:sp>
        <p:nvSpPr>
          <p:cNvPr id="5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A5E35B61-07B7-4668-91A8-B55E263D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6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80870957-FADA-49FB-AB4B-0F5CA361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MILESTONES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968DB-8A53-446F-8968-C0463317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The raise buys fundable proof: paid clarity, repeat usage, and GMV signal.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9EE6E-2979-456B-A0A9-C168B2A1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Current product proof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1D2ED-9A8E-4273-8E88-55C84928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4095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71450" tIns="152400" rIns="171450" bIns="15240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Demoable flows in repo: craft onboarding, new home / remodel wizards, project hub, documents, marketplace, team, and pro surfaces.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FB9C6-4756-42D5-B686-9DF4D844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B8FA0D-C8B2-4E4F-A4FD-6F379FD8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0-6 months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127C8-B4ED-4414-98A2-FBECB03F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2857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71450" tIns="142875" rIns="152400" bIns="13335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Harden core product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first paid professional or homeowner flow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3-5 lighthouse projects in one geography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69D08-44EE-486E-B851-4602683B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73380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B5B"/>
          </a:solidFill>
          <a:ln xmlns:a="http://schemas.openxmlformats.org/drawingml/2006/main" w="0">
            <a:solidFill>
              <a:srgbClr val="226B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F884F3-6CAC-40DC-BCB9-7C4EF091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670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6-12 months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3B2611-1B83-409F-B063-125D1D38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924300"/>
            <a:ext cx="2857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71450" tIns="142875" rIns="152400" bIns="13335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repeat project-room usage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RFQ marketplace v1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NPS and referral signal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910F8D-30E9-4A09-8F5F-121E90C8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3380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73"/>
          </a:solidFill>
          <a:ln xmlns:a="http://schemas.openxmlformats.org/drawingml/2006/main" w="0">
            <a:solidFill>
              <a:srgbClr val="2B5C7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84B1FC-81F1-412C-924A-27AB908A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670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12-18 months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3A4C15-1667-4782-99B5-8CA7E4A2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24300"/>
            <a:ext cx="2857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71450" tIns="142875" rIns="152400" bIns="13335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Series A narrative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GMV or ARR north-star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commission, SaaS, or B2B pro seats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642209-6EEB-441D-BF27-52E46152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9070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Board KPIs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B1998B-9DFB-4729-A5FF-F94281F8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76400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34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73B34"/>
                </a:solidFill>
                <a:latin typeface="Georgia"/>
                <a:ea typeface="Georgia"/>
                <a:cs typeface="Georgia"/>
              </a:rPr>
              <a:t>time to usable brief, estimate completion, scope-lock rate, pro add rate, repeat sessions, NPS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A644DD-4054-4BF4-9F2F-E9FB9571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Sources: docs/INVESTOR_PITCH.md traction section; project management roadmap.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24DA8E-6535-4B7E-942C-9A030477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9053209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FFEC8E-2071-4FFB-AFF1-C6DA2827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9"/>
          </a:solidFill>
          <a:ln xmlns:a="http://schemas.openxmlformats.org/drawingml/2006/main" w="0">
            <a:solidFill>
              <a:srgbClr val="F7F1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EFA1E-AAB6-4A4C-B217-1E46176C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5CE8B-4DAF-42DB-8E5E-E6A3BEB1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1750E-F082-469C-BD64-884CA295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6C7"/>
          </a:solidFill>
          <a:ln xmlns:a="http://schemas.openxmlformats.org/drawingml/2006/main" w="0">
            <a:solidFill>
              <a:srgbClr val="E6D6C7"/>
            </a:solidFill>
            <a:prstDash val="solid"/>
          </a:ln>
        </p:spPr>
      </p:sp>
      <p:sp>
        <p:nvSpPr>
          <p:cNvPr id="5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383F8B5A-964B-4F26-9778-14A6A8B1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6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E0E4A5D0-85C5-4728-8A08-4C6517A1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COMPETITION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FF7B8-C096-499B-A23C-C615B3B4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76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Incumbents own inspiration, discovery, or execution; nobody owns pre-execution truth for the long 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B2ACF-4FF6-4F20-9367-406AF93A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05375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D2091-3F3A-4DFF-865D-4AAA0F84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43125"/>
            <a:ext cx="190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67224-7F3D-4925-8769-6BB182B0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958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Inspiration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D90E6-8D50-4605-ABDF-E3E68E83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958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Operating system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ECF14-90A3-4984-816A-32A4696E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00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Control preserved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8FEB4-8606-4849-A78A-A123B912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Outsourced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123ED-FAA1-4CF9-BFE2-2634E534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719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242"/>
          </a:solidFill>
          <a:ln xmlns:a="http://schemas.openxmlformats.org/drawingml/2006/main" w="0">
            <a:solidFill>
              <a:srgbClr val="3B424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DF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DF9"/>
                </a:solidFill>
                <a:latin typeface="Avenir Next"/>
                <a:ea typeface="Avenir Next"/>
                <a:cs typeface="Avenir Next"/>
              </a:rPr>
              <a:t>Inspiration / listings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461B3A-0558-4FF6-A0B9-7C519378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73"/>
          </a:solidFill>
          <a:ln xmlns:a="http://schemas.openxmlformats.org/drawingml/2006/main" w="0">
            <a:solidFill>
              <a:srgbClr val="2B5C7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DF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DF9"/>
                </a:solidFill>
                <a:latin typeface="Avenir Next"/>
                <a:ea typeface="Avenir Next"/>
                <a:cs typeface="Avenir Next"/>
              </a:rPr>
              <a:t>Service marketplaces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AF50A6-6AFF-4A16-90B9-FA9F7150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99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DF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DF9"/>
                </a:solidFill>
                <a:latin typeface="Avenir Next"/>
                <a:ea typeface="Avenir Next"/>
                <a:cs typeface="Avenir Next"/>
              </a:rPr>
              <a:t>Managed interiors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AA91CD-1AE2-4AA3-B387-EED84FA5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907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4"/>
          </a:solidFill>
          <a:ln xmlns:a="http://schemas.openxmlformats.org/drawingml/2006/main" w="0">
            <a:solidFill>
              <a:srgbClr val="173B3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BuildGuru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1BD21C-1BE6-46E4-B2DD-A7F7D8E8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3B34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3B34"/>
                </a:solidFill>
                <a:latin typeface="Georgia"/>
                <a:ea typeface="Georgia"/>
                <a:cs typeface="Georgia"/>
              </a:rPr>
              <a:t>BuildGuru</a:t>
            </a:r>
            <a:r>
              <a:rPr sz="1800" b="1">
                <a:solidFill>
                  <a:srgbClr val="173B34"/>
                </a:solidFill>
                <a:latin typeface="Georgia"/>
                <a:ea typeface="Georgia"/>
                <a:cs typeface="Georgia"/>
              </a:rPr>
              <a:t> owns the missing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7D0E92-7BB2-4C06-B55D-2689C057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91150"/>
            <a:ext cx="590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Before money moves: clear estimate, scope lock, approval trail, project room, and expansion paths into pros and payments.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C18D6F-5C34-4F72-8483-4F8C5866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Sources: Design Compass competitor landscape; Entrackr FY25 Livspace revenue; internal positioning.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65DC7B-DB7A-4AF0-8F57-979BF68B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275946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998FF2-0D20-4E4C-ADB4-1941D352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9"/>
          </a:solidFill>
          <a:ln xmlns:a="http://schemas.openxmlformats.org/drawingml/2006/main" w="0">
            <a:solidFill>
              <a:srgbClr val="F7F1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122E2-F6F9-48CB-9BB2-5E3FD8D3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A1A5A-471D-44A0-BC50-EC953698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D16B9-12DA-495B-AE74-A0F6097D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6C7"/>
          </a:solidFill>
          <a:ln xmlns:a="http://schemas.openxmlformats.org/drawingml/2006/main" w="0">
            <a:solidFill>
              <a:srgbClr val="E6D6C7"/>
            </a:solidFill>
            <a:prstDash val="solid"/>
          </a:ln>
        </p:spPr>
      </p:sp>
      <p:sp>
        <p:nvSpPr>
          <p:cNvPr id="5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D95F65BD-6421-4A97-8849-97A23B91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6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F7E4207A-BAFC-432F-9554-FC386D2E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TEAM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43591-B3B3-41D8-BFB6-F243C30B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76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The founder profile fits the wedge: AI product discipline plus lived construction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1B2A8-5BD2-48D3-8B7F-C2A20C63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4"/>
          </a:solidFill>
          <a:ln xmlns:a="http://schemas.openxmlformats.org/drawingml/2006/main" w="0">
            <a:solidFill>
              <a:srgbClr val="173B34"/>
            </a:solidFill>
            <a:prstDash val="solid"/>
          </a:ln>
        </p:spPr>
        <p:txBody>
          <a:bodyPr xmlns:a="http://schemas.openxmlformats.org/drawingml/2006/main" lIns="209550" tIns="171450" rIns="171450" bIns="13335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Mokshith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Founder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A8575-1757-4FA4-A62E-62F4C42E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295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71450" tIns="133350" rIns="152400" bIns="13335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Technical operator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Computer Science background; Cisco execution environment; able to ship high-expectation systems.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7CBCB-059A-489A-AF51-C30E1654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809750"/>
            <a:ext cx="295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71450" tIns="133350" rIns="152400" bIns="13335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AI + business lens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Arizona State University work across artificial intelligence and business management.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455528-5F3B-4D68-B0CE-E3A0A08A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67050"/>
            <a:ext cx="295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71450" tIns="133350" rIns="152400" bIns="13335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Domain DNA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Son of a civil engineer in house planning; grew up around drawings, estimates, and site reality.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C3ACD-4722-4611-A889-AB3F1C18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67050"/>
            <a:ext cx="295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71450" tIns="133350" rIns="152400" bIns="13335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Personal hunger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Middle-class India; family tradeoffs around stability and ambition inform the operator mindset.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72C68-D4D3-49E6-85ED-05E9FAB3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Seed hiring 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B67080-5B21-4191-846D-9BF8151E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2552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B34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73B34"/>
                </a:solidFill>
                <a:latin typeface="Georgia"/>
                <a:ea typeface="Georgia"/>
                <a:cs typeface="Georgia"/>
              </a:rPr>
              <a:t>small senior core across full-stack, ML product, design, city GTM, and customer operations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7FBFF-38C3-4171-9E18-F8490417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Add advisors / first architect or contractor partners as named proof before external send.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43D46B-BA4D-4029-8E0F-F546760D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Source: docs/INVESTOR_PITCH.md team section. Confirm legal name and advisor list before fundraising circulation.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4E3E86-8764-4BDD-A07E-26A86B26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331521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05280F-AD3A-45E1-9826-ACB3FFAA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3"/>
          </a:solidFill>
          <a:ln xmlns:a="http://schemas.openxmlformats.org/drawingml/2006/main" w="0">
            <a:solidFill>
              <a:srgbClr val="17151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E941A-388B-4FCD-8E13-D1892CE1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549"/>
          </a:solidFill>
          <a:ln xmlns:a="http://schemas.openxmlformats.org/drawingml/2006/main" w="0">
            <a:solidFill>
              <a:srgbClr val="E2A54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8627C-7AC0-4A10-84BB-DCD5A1AC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93B"/>
          </a:solidFill>
          <a:ln xmlns:a="http://schemas.openxmlformats.org/drawingml/2006/main" w="0">
            <a:solidFill>
              <a:srgbClr val="5A493B"/>
            </a:solidFill>
            <a:prstDash val="solid"/>
          </a:ln>
        </p:spPr>
      </p:sp>
      <p:sp>
        <p:nvSpPr>
          <p:cNvPr id="4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51240FEB-5A92-474A-A367-6CFF8100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549"/>
          </a:solidFill>
          <a:ln xmlns:a="http://schemas.openxmlformats.org/drawingml/2006/main" w="0">
            <a:solidFill>
              <a:srgbClr val="E2A549"/>
            </a:solidFill>
            <a:prstDash val="solid"/>
          </a:ln>
        </p:spPr>
      </p:sp>
      <p:sp>
        <p:nvSpPr>
          <p:cNvPr id="5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2E5E0014-289B-4351-90D3-D3B454E1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F0C88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0C884"/>
                </a:solidFill>
                <a:latin typeface="Avenir Next"/>
                <a:ea typeface="Avenir Next"/>
                <a:cs typeface="Avenir Next"/>
              </a:rPr>
              <a:t>THE 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28B76-7C42-41F9-8C06-9EC42D5C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76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We are raising $4.5M-$6.0M to own the pre-execution layer before the market is copied.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DE4AB-0316-40C6-AA4E-CD0D85C9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647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7CEC4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D7CEC4"/>
                </a:solidFill>
                <a:latin typeface="Avenir Next"/>
                <a:ea typeface="Avenir Next"/>
                <a:cs typeface="Avenir Next"/>
              </a:rPr>
              <a:t>Use of funds is built for parallel product depth and city-one trust, not lifestyle burn.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128AA-DC36-4602-A67A-73F6E4E8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9CDB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9CDBF"/>
                </a:solidFill>
                <a:latin typeface="Avenir Next"/>
                <a:ea typeface="Avenir Next"/>
                <a:cs typeface="Avenir Next"/>
              </a:rPr>
              <a:t>Product &amp; engineering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44833-8068-49C4-8603-84AA4704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241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2B25"/>
          </a:solidFill>
          <a:ln xmlns:a="http://schemas.openxmlformats.org/drawingml/2006/main" w="0">
            <a:solidFill>
              <a:srgbClr val="322B2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3EF7A-4703-4F32-B8EE-DB8E6434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24150"/>
            <a:ext cx="39319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549"/>
          </a:solidFill>
          <a:ln xmlns:a="http://schemas.openxmlformats.org/drawingml/2006/main" w="0">
            <a:solidFill>
              <a:srgbClr val="E2A54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567AAE-8B4F-481C-96A6-2BB653EA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051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48%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D199A-2D12-4F6F-8272-660C348E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BFB2A7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BFB2A7"/>
                </a:solidFill>
                <a:latin typeface="Avenir Next"/>
                <a:ea typeface="Avenir Next"/>
                <a:cs typeface="Avenir Next"/>
              </a:rPr>
              <a:t>core product, ML product, reliability, security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9E2499-21DB-4626-B57C-26920EB4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9CDB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9CDBF"/>
                </a:solidFill>
                <a:latin typeface="Avenir Next"/>
                <a:ea typeface="Avenir Next"/>
                <a:cs typeface="Avenir Next"/>
              </a:rPr>
              <a:t>India GTM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7247EB-6B16-4487-A275-0226CE60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575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2B25"/>
          </a:solidFill>
          <a:ln xmlns:a="http://schemas.openxmlformats.org/drawingml/2006/main" w="0">
            <a:solidFill>
              <a:srgbClr val="322B2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BA8558-E7D7-4F31-8503-054885B4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57550"/>
            <a:ext cx="196596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B49C"/>
          </a:solidFill>
          <a:ln xmlns:a="http://schemas.openxmlformats.org/drawingml/2006/main" w="0">
            <a:solidFill>
              <a:srgbClr val="6AB49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A057F6-F003-41D6-8DF3-2C02964C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385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24%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3E2FA2-3EBB-447C-BD75-B390064E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766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BFB2A7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BFB2A7"/>
                </a:solidFill>
                <a:latin typeface="Avenir Next"/>
                <a:ea typeface="Avenir Next"/>
                <a:cs typeface="Avenir Next"/>
              </a:rPr>
              <a:t>pro acquisition, city wedge, partnerships, content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21D2EB-3891-47E2-BC96-BE696AE8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9CDB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9CDBF"/>
                </a:solidFill>
                <a:latin typeface="Avenir Next"/>
                <a:ea typeface="Avenir Next"/>
                <a:cs typeface="Avenir Next"/>
              </a:rPr>
              <a:t>Operations &amp; hiring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3A3AB-1B4B-4BA5-87E9-38111B44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909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2B25"/>
          </a:solidFill>
          <a:ln xmlns:a="http://schemas.openxmlformats.org/drawingml/2006/main" w="0">
            <a:solidFill>
              <a:srgbClr val="322B2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628632-3DB0-462C-83DA-20D353AD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90950"/>
            <a:ext cx="106489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E9BB45-1B49-4FD7-8999-5FA836F9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719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13%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0BEF8F-1BB0-4ADC-A8C8-65DA21AA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00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BFB2A7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BFB2A7"/>
                </a:solidFill>
                <a:latin typeface="Avenir Next"/>
                <a:ea typeface="Avenir Next"/>
                <a:cs typeface="Avenir Next"/>
              </a:rPr>
              <a:t>support, legal, finance, marketplace readiness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D22F4E-5E82-4496-AF6B-F5954A6A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9CDB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9CDBF"/>
                </a:solidFill>
                <a:latin typeface="Avenir Next"/>
                <a:ea typeface="Avenir Next"/>
                <a:cs typeface="Avenir Next"/>
              </a:rPr>
              <a:t>Buffer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BEB2E2-4C93-4B7F-8497-905048C7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243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2B25"/>
          </a:solidFill>
          <a:ln xmlns:a="http://schemas.openxmlformats.org/drawingml/2006/main" w="0">
            <a:solidFill>
              <a:srgbClr val="322B2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75E9A7-8EFF-49A9-8CB6-2AE1CEB3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24350"/>
            <a:ext cx="1228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73"/>
          </a:solidFill>
          <a:ln xmlns:a="http://schemas.openxmlformats.org/drawingml/2006/main" w="0">
            <a:solidFill>
              <a:srgbClr val="2B5C7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45A5E2-B2D3-4AED-BF19-DF659CD3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053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15%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428823-14E2-4EA8-812A-23D0E456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434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BFB2A7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BFB2A7"/>
                </a:solidFill>
                <a:latin typeface="Avenir Next"/>
                <a:ea typeface="Avenir Next"/>
                <a:cs typeface="Avenir Next"/>
              </a:rPr>
              <a:t>construction cycles and trust-building runway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4E2EF5-69D3-45EC-B01D-FA37C964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2A549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E2A549"/>
                </a:solidFill>
                <a:latin typeface="Georgia"/>
                <a:ea typeface="Georgia"/>
                <a:cs typeface="Georgia"/>
              </a:rPr>
              <a:t>18-24 month runway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55807E-71C1-40F2-8DC3-1A529CBA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647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8DDD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E8DDD0"/>
                </a:solidFill>
                <a:latin typeface="Avenir Next"/>
                <a:ea typeface="Avenir Next"/>
                <a:cs typeface="Avenir Next"/>
              </a:rPr>
              <a:t>Next round proof: paid clarity, repeat project-room usage, marketplace/RFQ signal, and a credible GMV or ARR north star.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17D0FE-A9FF-4FAA-BC2F-F47D6704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8667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BuildGuru</a:t>
            </a:r>
            <a:r>
              <a:rPr sz="150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 is the default way Indian families make building decisions before cash, contractors, and chaos enter the room.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3210EE-6007-4975-9B6D-F6BF0D33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A99C90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99C90"/>
                </a:solidFill>
                <a:latin typeface="Avenir Next"/>
                <a:ea typeface="Avenir Next"/>
                <a:cs typeface="Avenir Next"/>
              </a:rPr>
              <a:t>Indicative raise and use of funds. Align with counsel and investor lead before external distribution.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6E1A84-5B60-4D26-A5EA-CB0EB21F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E2A54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E2A549"/>
                </a:solidFill>
                <a:latin typeface="Menlo"/>
                <a:ea typeface="Menlo"/>
                <a:cs typeface="Menl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18022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2026-07-31T20:24:37.6690000Z</dcterms:created>
  <dcterms:modified xsi:type="dcterms:W3CDTF">2026-07-31T20:24:37.6690000Z</dcterms:modified>
</coreProperties>
</file>